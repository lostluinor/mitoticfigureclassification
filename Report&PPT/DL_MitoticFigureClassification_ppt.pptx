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2" r:id="rId7"/>
    <p:sldId id="266" r:id="rId8"/>
    <p:sldId id="263" r:id="rId9"/>
    <p:sldId id="264" r:id="rId10"/>
    <p:sldId id="267" r:id="rId11"/>
    <p:sldId id="268" r:id="rId12"/>
    <p:sldId id="269" r:id="rId13"/>
    <p:sldId id="271" r:id="rId14"/>
    <p:sldId id="270" r:id="rId15"/>
    <p:sldId id="272" r:id="rId16"/>
    <p:sldId id="274" r:id="rId17"/>
    <p:sldId id="277" r:id="rId18"/>
    <p:sldId id="278"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744671-D0D6-4A69-836B-76F27147B056}" v="23" dt="2025-11-23T05:27:12.7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1" d="100"/>
          <a:sy n="71" d="100"/>
        </p:scale>
        <p:origin x="69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ksha Venkatesha" userId="f098cf81b5201ff9" providerId="LiveId" clId="{DC54DA4E-3E18-429D-96D6-EFE40E63D380}"/>
    <pc:docChg chg="undo custSel addSld delSld modSld">
      <pc:chgData name="Raksha Venkatesha" userId="f098cf81b5201ff9" providerId="LiveId" clId="{DC54DA4E-3E18-429D-96D6-EFE40E63D380}" dt="2025-11-23T07:26:39.944" v="245" actId="47"/>
      <pc:docMkLst>
        <pc:docMk/>
      </pc:docMkLst>
      <pc:sldChg chg="modNotesTx">
        <pc:chgData name="Raksha Venkatesha" userId="f098cf81b5201ff9" providerId="LiveId" clId="{DC54DA4E-3E18-429D-96D6-EFE40E63D380}" dt="2025-11-19T05:55:07.951" v="98" actId="20577"/>
        <pc:sldMkLst>
          <pc:docMk/>
          <pc:sldMk cId="3782837464" sldId="262"/>
        </pc:sldMkLst>
      </pc:sldChg>
      <pc:sldChg chg="addSp delSp modSp mod">
        <pc:chgData name="Raksha Venkatesha" userId="f098cf81b5201ff9" providerId="LiveId" clId="{DC54DA4E-3E18-429D-96D6-EFE40E63D380}" dt="2025-11-23T05:27:19.856" v="244" actId="1076"/>
        <pc:sldMkLst>
          <pc:docMk/>
          <pc:sldMk cId="972649620" sldId="263"/>
        </pc:sldMkLst>
        <pc:picChg chg="add mod">
          <ac:chgData name="Raksha Venkatesha" userId="f098cf81b5201ff9" providerId="LiveId" clId="{DC54DA4E-3E18-429D-96D6-EFE40E63D380}" dt="2025-11-23T05:27:19.856" v="244" actId="1076"/>
          <ac:picMkLst>
            <pc:docMk/>
            <pc:sldMk cId="972649620" sldId="263"/>
            <ac:picMk id="5" creationId="{26AA67E4-FA6C-B8AA-7582-6652F6C2E8A6}"/>
          </ac:picMkLst>
        </pc:picChg>
        <pc:picChg chg="del">
          <ac:chgData name="Raksha Venkatesha" userId="f098cf81b5201ff9" providerId="LiveId" clId="{DC54DA4E-3E18-429D-96D6-EFE40E63D380}" dt="2025-11-23T05:27:12.046" v="239" actId="478"/>
          <ac:picMkLst>
            <pc:docMk/>
            <pc:sldMk cId="972649620" sldId="263"/>
            <ac:picMk id="5122" creationId="{7692EFC9-E63F-4D4D-594C-D190E7C32EC6}"/>
          </ac:picMkLst>
        </pc:picChg>
      </pc:sldChg>
      <pc:sldChg chg="addSp delSp modSp mod">
        <pc:chgData name="Raksha Venkatesha" userId="f098cf81b5201ff9" providerId="LiveId" clId="{DC54DA4E-3E18-429D-96D6-EFE40E63D380}" dt="2025-11-23T05:26:37.098" v="238" actId="14100"/>
        <pc:sldMkLst>
          <pc:docMk/>
          <pc:sldMk cId="2022865658" sldId="266"/>
        </pc:sldMkLst>
        <pc:spChg chg="mod">
          <ac:chgData name="Raksha Venkatesha" userId="f098cf81b5201ff9" providerId="LiveId" clId="{DC54DA4E-3E18-429D-96D6-EFE40E63D380}" dt="2025-11-23T05:26:26.186" v="235" actId="26606"/>
          <ac:spMkLst>
            <pc:docMk/>
            <pc:sldMk cId="2022865658" sldId="266"/>
            <ac:spMk id="2" creationId="{8DC43573-1388-B445-8F93-37D722D2FB4A}"/>
          </ac:spMkLst>
        </pc:spChg>
        <pc:spChg chg="mod">
          <ac:chgData name="Raksha Venkatesha" userId="f098cf81b5201ff9" providerId="LiveId" clId="{DC54DA4E-3E18-429D-96D6-EFE40E63D380}" dt="2025-11-23T05:26:26.186" v="235" actId="26606"/>
          <ac:spMkLst>
            <pc:docMk/>
            <pc:sldMk cId="2022865658" sldId="266"/>
            <ac:spMk id="3" creationId="{DB42A884-13E1-7C43-2298-8BF3156394A3}"/>
          </ac:spMkLst>
        </pc:spChg>
        <pc:spChg chg="del">
          <ac:chgData name="Raksha Venkatesha" userId="f098cf81b5201ff9" providerId="LiveId" clId="{DC54DA4E-3E18-429D-96D6-EFE40E63D380}" dt="2025-11-23T05:26:26.186" v="235" actId="26606"/>
          <ac:spMkLst>
            <pc:docMk/>
            <pc:sldMk cId="2022865658" sldId="266"/>
            <ac:spMk id="4116" creationId="{0288C6B4-AFC3-407F-A595-EFFD38D4CCAF}"/>
          </ac:spMkLst>
        </pc:spChg>
        <pc:spChg chg="del">
          <ac:chgData name="Raksha Venkatesha" userId="f098cf81b5201ff9" providerId="LiveId" clId="{DC54DA4E-3E18-429D-96D6-EFE40E63D380}" dt="2025-11-23T05:26:26.186" v="235" actId="26606"/>
          <ac:spMkLst>
            <pc:docMk/>
            <pc:sldMk cId="2022865658" sldId="266"/>
            <ac:spMk id="4118" creationId="{CF236821-17FE-429B-8D2C-08E13A64EA40}"/>
          </ac:spMkLst>
        </pc:spChg>
        <pc:spChg chg="del">
          <ac:chgData name="Raksha Venkatesha" userId="f098cf81b5201ff9" providerId="LiveId" clId="{DC54DA4E-3E18-429D-96D6-EFE40E63D380}" dt="2025-11-23T05:26:26.186" v="235" actId="26606"/>
          <ac:spMkLst>
            <pc:docMk/>
            <pc:sldMk cId="2022865658" sldId="266"/>
            <ac:spMk id="4120" creationId="{C0BDBCD2-E081-43AB-9119-C55465E59757}"/>
          </ac:spMkLst>
        </pc:spChg>
        <pc:spChg chg="del">
          <ac:chgData name="Raksha Venkatesha" userId="f098cf81b5201ff9" providerId="LiveId" clId="{DC54DA4E-3E18-429D-96D6-EFE40E63D380}" dt="2025-11-23T05:26:26.186" v="235" actId="26606"/>
          <ac:spMkLst>
            <pc:docMk/>
            <pc:sldMk cId="2022865658" sldId="266"/>
            <ac:spMk id="4122" creationId="{98E79BE4-34FE-485A-98A5-92CE8F7C4743}"/>
          </ac:spMkLst>
        </pc:spChg>
        <pc:spChg chg="del">
          <ac:chgData name="Raksha Venkatesha" userId="f098cf81b5201ff9" providerId="LiveId" clId="{DC54DA4E-3E18-429D-96D6-EFE40E63D380}" dt="2025-11-23T05:26:26.186" v="235" actId="26606"/>
          <ac:spMkLst>
            <pc:docMk/>
            <pc:sldMk cId="2022865658" sldId="266"/>
            <ac:spMk id="4124" creationId="{7A5F0580-5EE9-419F-96EE-B6529EF6E7D0}"/>
          </ac:spMkLst>
        </pc:spChg>
        <pc:spChg chg="add">
          <ac:chgData name="Raksha Venkatesha" userId="f098cf81b5201ff9" providerId="LiveId" clId="{DC54DA4E-3E18-429D-96D6-EFE40E63D380}" dt="2025-11-23T05:26:26.186" v="235" actId="26606"/>
          <ac:spMkLst>
            <pc:docMk/>
            <pc:sldMk cId="2022865658" sldId="266"/>
            <ac:spMk id="4129" creationId="{2B97F24A-32CE-4C1C-A50D-3016B394DCFB}"/>
          </ac:spMkLst>
        </pc:spChg>
        <pc:spChg chg="add">
          <ac:chgData name="Raksha Venkatesha" userId="f098cf81b5201ff9" providerId="LiveId" clId="{DC54DA4E-3E18-429D-96D6-EFE40E63D380}" dt="2025-11-23T05:26:26.186" v="235" actId="26606"/>
          <ac:spMkLst>
            <pc:docMk/>
            <pc:sldMk cId="2022865658" sldId="266"/>
            <ac:spMk id="4131" creationId="{6357EC4F-235E-4222-A36F-C7878ACE37F2}"/>
          </ac:spMkLst>
        </pc:spChg>
        <pc:picChg chg="add mod">
          <ac:chgData name="Raksha Venkatesha" userId="f098cf81b5201ff9" providerId="LiveId" clId="{DC54DA4E-3E18-429D-96D6-EFE40E63D380}" dt="2025-11-23T05:26:37.098" v="238" actId="14100"/>
          <ac:picMkLst>
            <pc:docMk/>
            <pc:sldMk cId="2022865658" sldId="266"/>
            <ac:picMk id="5" creationId="{099CB8FF-3449-6CCA-EFE7-208142CE25EE}"/>
          </ac:picMkLst>
        </pc:picChg>
        <pc:picChg chg="del">
          <ac:chgData name="Raksha Venkatesha" userId="f098cf81b5201ff9" providerId="LiveId" clId="{DC54DA4E-3E18-429D-96D6-EFE40E63D380}" dt="2025-11-23T05:26:09.232" v="227" actId="478"/>
          <ac:picMkLst>
            <pc:docMk/>
            <pc:sldMk cId="2022865658" sldId="266"/>
            <ac:picMk id="7" creationId="{5AAF6BBA-9E92-9E23-BC82-6D1346FA2512}"/>
          </ac:picMkLst>
        </pc:picChg>
      </pc:sldChg>
      <pc:sldChg chg="addSp delSp modSp mod">
        <pc:chgData name="Raksha Venkatesha" userId="f098cf81b5201ff9" providerId="LiveId" clId="{DC54DA4E-3E18-429D-96D6-EFE40E63D380}" dt="2025-11-19T04:19:26.647" v="11" actId="20577"/>
        <pc:sldMkLst>
          <pc:docMk/>
          <pc:sldMk cId="3461770922" sldId="273"/>
        </pc:sldMkLst>
        <pc:spChg chg="add mod">
          <ac:chgData name="Raksha Venkatesha" userId="f098cf81b5201ff9" providerId="LiveId" clId="{DC54DA4E-3E18-429D-96D6-EFE40E63D380}" dt="2025-11-19T04:19:26.647" v="11" actId="20577"/>
          <ac:spMkLst>
            <pc:docMk/>
            <pc:sldMk cId="3461770922" sldId="273"/>
            <ac:spMk id="4" creationId="{7E8D8248-3D01-897F-5B9E-A89039F34B84}"/>
          </ac:spMkLst>
        </pc:spChg>
      </pc:sldChg>
      <pc:sldChg chg="addSp delSp modSp mod">
        <pc:chgData name="Raksha Venkatesha" userId="f098cf81b5201ff9" providerId="LiveId" clId="{DC54DA4E-3E18-429D-96D6-EFE40E63D380}" dt="2025-11-23T05:22:21.382" v="106" actId="1076"/>
        <pc:sldMkLst>
          <pc:docMk/>
          <pc:sldMk cId="2542131904" sldId="274"/>
        </pc:sldMkLst>
        <pc:spChg chg="add del">
          <ac:chgData name="Raksha Venkatesha" userId="f098cf81b5201ff9" providerId="LiveId" clId="{DC54DA4E-3E18-429D-96D6-EFE40E63D380}" dt="2025-11-23T05:21:49.801" v="101" actId="478"/>
          <ac:spMkLst>
            <pc:docMk/>
            <pc:sldMk cId="2542131904" sldId="274"/>
            <ac:spMk id="3" creationId="{15A1D6B6-5282-6673-F25E-BE3CFA88ECBF}"/>
          </ac:spMkLst>
        </pc:spChg>
        <pc:picChg chg="add del mod">
          <ac:chgData name="Raksha Venkatesha" userId="f098cf81b5201ff9" providerId="LiveId" clId="{DC54DA4E-3E18-429D-96D6-EFE40E63D380}" dt="2025-11-23T05:21:47.692" v="99" actId="478"/>
          <ac:picMkLst>
            <pc:docMk/>
            <pc:sldMk cId="2542131904" sldId="274"/>
            <ac:picMk id="5" creationId="{B01266B4-1963-7D6E-76EF-E74777A87444}"/>
          </ac:picMkLst>
        </pc:picChg>
        <pc:picChg chg="add mod">
          <ac:chgData name="Raksha Venkatesha" userId="f098cf81b5201ff9" providerId="LiveId" clId="{DC54DA4E-3E18-429D-96D6-EFE40E63D380}" dt="2025-11-23T05:22:21.382" v="106" actId="1076"/>
          <ac:picMkLst>
            <pc:docMk/>
            <pc:sldMk cId="2542131904" sldId="274"/>
            <ac:picMk id="6" creationId="{2FD4BD31-61A2-B63E-9E93-19A2033EEFDC}"/>
          </ac:picMkLst>
        </pc:picChg>
      </pc:sldChg>
      <pc:sldChg chg="del">
        <pc:chgData name="Raksha Venkatesha" userId="f098cf81b5201ff9" providerId="LiveId" clId="{DC54DA4E-3E18-429D-96D6-EFE40E63D380}" dt="2025-11-23T07:26:39.944" v="245" actId="47"/>
        <pc:sldMkLst>
          <pc:docMk/>
          <pc:sldMk cId="1295125651" sldId="275"/>
        </pc:sldMkLst>
      </pc:sldChg>
      <pc:sldChg chg="addSp delSp modSp add mod">
        <pc:chgData name="Raksha Venkatesha" userId="f098cf81b5201ff9" providerId="LiveId" clId="{DC54DA4E-3E18-429D-96D6-EFE40E63D380}" dt="2025-11-23T05:24:45.119" v="226" actId="1076"/>
        <pc:sldMkLst>
          <pc:docMk/>
          <pc:sldMk cId="1228787916" sldId="278"/>
        </pc:sldMkLst>
        <pc:spChg chg="mod">
          <ac:chgData name="Raksha Venkatesha" userId="f098cf81b5201ff9" providerId="LiveId" clId="{DC54DA4E-3E18-429D-96D6-EFE40E63D380}" dt="2025-11-23T05:22:50.688" v="122" actId="20577"/>
          <ac:spMkLst>
            <pc:docMk/>
            <pc:sldMk cId="1228787916" sldId="278"/>
            <ac:spMk id="2" creationId="{B85759A7-0136-64D7-154C-FA6D38E15102}"/>
          </ac:spMkLst>
        </pc:spChg>
        <pc:spChg chg="add del mod">
          <ac:chgData name="Raksha Venkatesha" userId="f098cf81b5201ff9" providerId="LiveId" clId="{DC54DA4E-3E18-429D-96D6-EFE40E63D380}" dt="2025-11-23T05:23:55.169" v="218" actId="478"/>
          <ac:spMkLst>
            <pc:docMk/>
            <pc:sldMk cId="1228787916" sldId="278"/>
            <ac:spMk id="3" creationId="{2619A164-123E-BC2B-53C5-06F20A8A5413}"/>
          </ac:spMkLst>
        </pc:spChg>
        <pc:spChg chg="add del">
          <ac:chgData name="Raksha Venkatesha" userId="f098cf81b5201ff9" providerId="LiveId" clId="{DC54DA4E-3E18-429D-96D6-EFE40E63D380}" dt="2025-11-23T05:23:57.924" v="219" actId="478"/>
          <ac:spMkLst>
            <pc:docMk/>
            <pc:sldMk cId="1228787916" sldId="278"/>
            <ac:spMk id="4" creationId="{95C876B7-5F41-8F9B-58BF-BA4B60F9EA47}"/>
          </ac:spMkLst>
        </pc:spChg>
        <pc:spChg chg="add mod">
          <ac:chgData name="Raksha Venkatesha" userId="f098cf81b5201ff9" providerId="LiveId" clId="{DC54DA4E-3E18-429D-96D6-EFE40E63D380}" dt="2025-11-23T05:23:49.786" v="215" actId="478"/>
          <ac:spMkLst>
            <pc:docMk/>
            <pc:sldMk cId="1228787916" sldId="278"/>
            <ac:spMk id="6" creationId="{6658356C-8C61-E736-5B2F-562DB1E9EC34}"/>
          </ac:spMkLst>
        </pc:spChg>
        <pc:spChg chg="add mod">
          <ac:chgData name="Raksha Venkatesha" userId="f098cf81b5201ff9" providerId="LiveId" clId="{DC54DA4E-3E18-429D-96D6-EFE40E63D380}" dt="2025-11-23T05:23:53.965" v="217" actId="478"/>
          <ac:spMkLst>
            <pc:docMk/>
            <pc:sldMk cId="1228787916" sldId="278"/>
            <ac:spMk id="7" creationId="{AB6997F9-623F-E9D1-F4BB-F0A2720C39A5}"/>
          </ac:spMkLst>
        </pc:spChg>
        <pc:picChg chg="del">
          <ac:chgData name="Raksha Venkatesha" userId="f098cf81b5201ff9" providerId="LiveId" clId="{DC54DA4E-3E18-429D-96D6-EFE40E63D380}" dt="2025-11-23T05:22:55.573" v="123" actId="478"/>
          <ac:picMkLst>
            <pc:docMk/>
            <pc:sldMk cId="1228787916" sldId="278"/>
            <ac:picMk id="5" creationId="{601D4939-6EEE-C64D-10BF-030173C977F7}"/>
          </ac:picMkLst>
        </pc:picChg>
        <pc:picChg chg="add mod">
          <ac:chgData name="Raksha Venkatesha" userId="f098cf81b5201ff9" providerId="LiveId" clId="{DC54DA4E-3E18-429D-96D6-EFE40E63D380}" dt="2025-11-23T05:24:45.119" v="226" actId="1076"/>
          <ac:picMkLst>
            <pc:docMk/>
            <pc:sldMk cId="1228787916" sldId="278"/>
            <ac:picMk id="9" creationId="{F1CFF531-97C6-4AD9-BA2A-D2D175B8ED7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9EA2C9-1E29-4633-80F0-24C69158D13B}" type="datetimeFigureOut">
              <a:rPr lang="en-IN" smtClean="0"/>
              <a:t>31-03-2026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942DED-7FE9-4C51-8F08-E656429C59CA}" type="slidenum">
              <a:rPr lang="en-IN" smtClean="0"/>
              <a:t>‹#›</a:t>
            </a:fld>
            <a:endParaRPr lang="en-IN"/>
          </a:p>
        </p:txBody>
      </p:sp>
    </p:spTree>
    <p:extLst>
      <p:ext uri="{BB962C8B-B14F-4D97-AF65-F5344CB8AC3E}">
        <p14:creationId xmlns:p14="http://schemas.microsoft.com/office/powerpoint/2010/main" val="1781227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Trains using focal loss</a:t>
            </a:r>
            <a:br>
              <a:rPr lang="en-IN" dirty="0"/>
            </a:br>
            <a:r>
              <a:rPr lang="en-IN" dirty="0"/>
              <a:t>early stopping </a:t>
            </a:r>
            <a:r>
              <a:rPr lang="en-IN" dirty="0" err="1"/>
              <a:t>lr</a:t>
            </a:r>
            <a:r>
              <a:rPr lang="en-IN" dirty="0"/>
              <a:t> plateau</a:t>
            </a:r>
            <a:br>
              <a:rPr lang="en-IN" dirty="0"/>
            </a:br>
            <a:r>
              <a:rPr lang="en-IN" dirty="0" err="1"/>
              <a:t>adams</a:t>
            </a:r>
            <a:r>
              <a:rPr lang="en-IN" dirty="0"/>
              <a:t> optimizer</a:t>
            </a:r>
          </a:p>
        </p:txBody>
      </p:sp>
      <p:sp>
        <p:nvSpPr>
          <p:cNvPr id="4" name="Slide Number Placeholder 3"/>
          <p:cNvSpPr>
            <a:spLocks noGrp="1"/>
          </p:cNvSpPr>
          <p:nvPr>
            <p:ph type="sldNum" sz="quarter" idx="5"/>
          </p:nvPr>
        </p:nvSpPr>
        <p:spPr/>
        <p:txBody>
          <a:bodyPr/>
          <a:lstStyle/>
          <a:p>
            <a:fld id="{6D942DED-7FE9-4C51-8F08-E656429C59CA}" type="slidenum">
              <a:rPr lang="en-IN" smtClean="0"/>
              <a:t>6</a:t>
            </a:fld>
            <a:endParaRPr lang="en-IN"/>
          </a:p>
        </p:txBody>
      </p:sp>
    </p:spTree>
    <p:extLst>
      <p:ext uri="{BB962C8B-B14F-4D97-AF65-F5344CB8AC3E}">
        <p14:creationId xmlns:p14="http://schemas.microsoft.com/office/powerpoint/2010/main" val="4014182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D942DED-7FE9-4C51-8F08-E656429C59CA}" type="slidenum">
              <a:rPr lang="en-IN" smtClean="0"/>
              <a:t>9</a:t>
            </a:fld>
            <a:endParaRPr lang="en-IN"/>
          </a:p>
        </p:txBody>
      </p:sp>
    </p:spTree>
    <p:extLst>
      <p:ext uri="{BB962C8B-B14F-4D97-AF65-F5344CB8AC3E}">
        <p14:creationId xmlns:p14="http://schemas.microsoft.com/office/powerpoint/2010/main" val="474807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D942DED-7FE9-4C51-8F08-E656429C59CA}" type="slidenum">
              <a:rPr lang="en-IN" smtClean="0"/>
              <a:t>12</a:t>
            </a:fld>
            <a:endParaRPr lang="en-IN"/>
          </a:p>
        </p:txBody>
      </p:sp>
    </p:spTree>
    <p:extLst>
      <p:ext uri="{BB962C8B-B14F-4D97-AF65-F5344CB8AC3E}">
        <p14:creationId xmlns:p14="http://schemas.microsoft.com/office/powerpoint/2010/main" val="29049652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7520-7BDD-22EF-8F5C-E059BA03AC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1C1897-CC74-2C09-BFB1-F0A01A81BD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2B6B1F2-29BD-633C-44A3-626829909E80}"/>
              </a:ext>
            </a:extLst>
          </p:cNvPr>
          <p:cNvSpPr>
            <a:spLocks noGrp="1"/>
          </p:cNvSpPr>
          <p:nvPr>
            <p:ph type="dt" sz="half" idx="10"/>
          </p:nvPr>
        </p:nvSpPr>
        <p:spPr/>
        <p:txBody>
          <a:bodyPr/>
          <a:lstStyle/>
          <a:p>
            <a:fld id="{1A2769C5-5E12-494A-828F-9E1CEE321F9D}" type="datetimeFigureOut">
              <a:rPr lang="en-IN" smtClean="0"/>
              <a:t>31-03-2026</a:t>
            </a:fld>
            <a:endParaRPr lang="en-IN"/>
          </a:p>
        </p:txBody>
      </p:sp>
      <p:sp>
        <p:nvSpPr>
          <p:cNvPr id="5" name="Footer Placeholder 4">
            <a:extLst>
              <a:ext uri="{FF2B5EF4-FFF2-40B4-BE49-F238E27FC236}">
                <a16:creationId xmlns:a16="http://schemas.microsoft.com/office/drawing/2014/main" id="{3F9B3C64-1100-02D5-2BCE-089A7162A5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6AD850-65BD-1C2F-D54F-5F6EC91870B8}"/>
              </a:ext>
            </a:extLst>
          </p:cNvPr>
          <p:cNvSpPr>
            <a:spLocks noGrp="1"/>
          </p:cNvSpPr>
          <p:nvPr>
            <p:ph type="sldNum" sz="quarter" idx="12"/>
          </p:nvPr>
        </p:nvSpPr>
        <p:spPr/>
        <p:txBody>
          <a:bodyPr/>
          <a:lstStyle/>
          <a:p>
            <a:fld id="{8E60DF0C-0CDA-40E6-8012-C199C490FF8C}" type="slidenum">
              <a:rPr lang="en-IN" smtClean="0"/>
              <a:t>‹#›</a:t>
            </a:fld>
            <a:endParaRPr lang="en-IN"/>
          </a:p>
        </p:txBody>
      </p:sp>
    </p:spTree>
    <p:extLst>
      <p:ext uri="{BB962C8B-B14F-4D97-AF65-F5344CB8AC3E}">
        <p14:creationId xmlns:p14="http://schemas.microsoft.com/office/powerpoint/2010/main" val="607017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45391-59C4-6407-B56B-AB6726183D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23BF4C-CF6C-AFE6-5534-7F5BD785D3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84EFE4-B674-0DC7-8A4E-B3D60B0C0DA5}"/>
              </a:ext>
            </a:extLst>
          </p:cNvPr>
          <p:cNvSpPr>
            <a:spLocks noGrp="1"/>
          </p:cNvSpPr>
          <p:nvPr>
            <p:ph type="dt" sz="half" idx="10"/>
          </p:nvPr>
        </p:nvSpPr>
        <p:spPr/>
        <p:txBody>
          <a:bodyPr/>
          <a:lstStyle/>
          <a:p>
            <a:fld id="{1A2769C5-5E12-494A-828F-9E1CEE321F9D}" type="datetimeFigureOut">
              <a:rPr lang="en-IN" smtClean="0"/>
              <a:t>31-03-2026</a:t>
            </a:fld>
            <a:endParaRPr lang="en-IN"/>
          </a:p>
        </p:txBody>
      </p:sp>
      <p:sp>
        <p:nvSpPr>
          <p:cNvPr id="5" name="Footer Placeholder 4">
            <a:extLst>
              <a:ext uri="{FF2B5EF4-FFF2-40B4-BE49-F238E27FC236}">
                <a16:creationId xmlns:a16="http://schemas.microsoft.com/office/drawing/2014/main" id="{EB5B881F-CE69-0AC7-C710-A7FCFD6637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E7BC4E-E025-A6BD-555E-626618831BF6}"/>
              </a:ext>
            </a:extLst>
          </p:cNvPr>
          <p:cNvSpPr>
            <a:spLocks noGrp="1"/>
          </p:cNvSpPr>
          <p:nvPr>
            <p:ph type="sldNum" sz="quarter" idx="12"/>
          </p:nvPr>
        </p:nvSpPr>
        <p:spPr/>
        <p:txBody>
          <a:bodyPr/>
          <a:lstStyle/>
          <a:p>
            <a:fld id="{8E60DF0C-0CDA-40E6-8012-C199C490FF8C}" type="slidenum">
              <a:rPr lang="en-IN" smtClean="0"/>
              <a:t>‹#›</a:t>
            </a:fld>
            <a:endParaRPr lang="en-IN"/>
          </a:p>
        </p:txBody>
      </p:sp>
    </p:spTree>
    <p:extLst>
      <p:ext uri="{BB962C8B-B14F-4D97-AF65-F5344CB8AC3E}">
        <p14:creationId xmlns:p14="http://schemas.microsoft.com/office/powerpoint/2010/main" val="1018381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A9389-F9F6-F0C5-2EB4-40CB30EE27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FC2EAEA-EFCE-9202-E5EC-1062193407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A106DF-CCFB-97BE-9A2A-71C3428C0369}"/>
              </a:ext>
            </a:extLst>
          </p:cNvPr>
          <p:cNvSpPr>
            <a:spLocks noGrp="1"/>
          </p:cNvSpPr>
          <p:nvPr>
            <p:ph type="dt" sz="half" idx="10"/>
          </p:nvPr>
        </p:nvSpPr>
        <p:spPr/>
        <p:txBody>
          <a:bodyPr/>
          <a:lstStyle/>
          <a:p>
            <a:fld id="{1A2769C5-5E12-494A-828F-9E1CEE321F9D}" type="datetimeFigureOut">
              <a:rPr lang="en-IN" smtClean="0"/>
              <a:t>31-03-2026</a:t>
            </a:fld>
            <a:endParaRPr lang="en-IN"/>
          </a:p>
        </p:txBody>
      </p:sp>
      <p:sp>
        <p:nvSpPr>
          <p:cNvPr id="5" name="Footer Placeholder 4">
            <a:extLst>
              <a:ext uri="{FF2B5EF4-FFF2-40B4-BE49-F238E27FC236}">
                <a16:creationId xmlns:a16="http://schemas.microsoft.com/office/drawing/2014/main" id="{E6FD3E89-31A3-62D1-AC52-09E2551A6E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7B585D-8CBF-796C-ABDB-15EFB97E931C}"/>
              </a:ext>
            </a:extLst>
          </p:cNvPr>
          <p:cNvSpPr>
            <a:spLocks noGrp="1"/>
          </p:cNvSpPr>
          <p:nvPr>
            <p:ph type="sldNum" sz="quarter" idx="12"/>
          </p:nvPr>
        </p:nvSpPr>
        <p:spPr/>
        <p:txBody>
          <a:bodyPr/>
          <a:lstStyle/>
          <a:p>
            <a:fld id="{8E60DF0C-0CDA-40E6-8012-C199C490FF8C}" type="slidenum">
              <a:rPr lang="en-IN" smtClean="0"/>
              <a:t>‹#›</a:t>
            </a:fld>
            <a:endParaRPr lang="en-IN"/>
          </a:p>
        </p:txBody>
      </p:sp>
    </p:spTree>
    <p:extLst>
      <p:ext uri="{BB962C8B-B14F-4D97-AF65-F5344CB8AC3E}">
        <p14:creationId xmlns:p14="http://schemas.microsoft.com/office/powerpoint/2010/main" val="3193603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FE077-DA9B-4E1D-E669-2F98783FEF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968CA93-BE14-5B24-280D-E48FC3FDFE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4531EB9-B6AE-98B2-3D51-66845820FF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7CF54F1-647C-5306-B3F9-EE943E33FF8B}"/>
              </a:ext>
            </a:extLst>
          </p:cNvPr>
          <p:cNvSpPr>
            <a:spLocks noGrp="1"/>
          </p:cNvSpPr>
          <p:nvPr>
            <p:ph type="dt" sz="half" idx="10"/>
          </p:nvPr>
        </p:nvSpPr>
        <p:spPr/>
        <p:txBody>
          <a:bodyPr/>
          <a:lstStyle/>
          <a:p>
            <a:fld id="{1A2769C5-5E12-494A-828F-9E1CEE321F9D}" type="datetimeFigureOut">
              <a:rPr lang="en-IN" smtClean="0"/>
              <a:t>31-03-2026</a:t>
            </a:fld>
            <a:endParaRPr lang="en-IN"/>
          </a:p>
        </p:txBody>
      </p:sp>
      <p:sp>
        <p:nvSpPr>
          <p:cNvPr id="6" name="Footer Placeholder 5">
            <a:extLst>
              <a:ext uri="{FF2B5EF4-FFF2-40B4-BE49-F238E27FC236}">
                <a16:creationId xmlns:a16="http://schemas.microsoft.com/office/drawing/2014/main" id="{B02AF2FB-54BA-495D-123E-D1EEDDA870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FF4487-DD62-36CB-4C6F-F489BE20D0F5}"/>
              </a:ext>
            </a:extLst>
          </p:cNvPr>
          <p:cNvSpPr>
            <a:spLocks noGrp="1"/>
          </p:cNvSpPr>
          <p:nvPr>
            <p:ph type="sldNum" sz="quarter" idx="12"/>
          </p:nvPr>
        </p:nvSpPr>
        <p:spPr/>
        <p:txBody>
          <a:bodyPr/>
          <a:lstStyle/>
          <a:p>
            <a:fld id="{8E60DF0C-0CDA-40E6-8012-C199C490FF8C}" type="slidenum">
              <a:rPr lang="en-IN" smtClean="0"/>
              <a:t>‹#›</a:t>
            </a:fld>
            <a:endParaRPr lang="en-IN"/>
          </a:p>
        </p:txBody>
      </p:sp>
    </p:spTree>
    <p:extLst>
      <p:ext uri="{BB962C8B-B14F-4D97-AF65-F5344CB8AC3E}">
        <p14:creationId xmlns:p14="http://schemas.microsoft.com/office/powerpoint/2010/main" val="1682481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02859-A425-EBD5-DE40-7BED257720B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B495742-9DA8-E321-DDC0-52642CEC4D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22AB1E-F4FD-3CFB-F88D-4966F59B9D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2A8FA8E-0B53-C0E8-488B-E71496C10C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0F4FB3-B8A1-F8AC-BB8F-655F97CBA3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942C64D-5AEF-1516-7819-F01DF71ADFA8}"/>
              </a:ext>
            </a:extLst>
          </p:cNvPr>
          <p:cNvSpPr>
            <a:spLocks noGrp="1"/>
          </p:cNvSpPr>
          <p:nvPr>
            <p:ph type="dt" sz="half" idx="10"/>
          </p:nvPr>
        </p:nvSpPr>
        <p:spPr/>
        <p:txBody>
          <a:bodyPr/>
          <a:lstStyle/>
          <a:p>
            <a:fld id="{1A2769C5-5E12-494A-828F-9E1CEE321F9D}" type="datetimeFigureOut">
              <a:rPr lang="en-IN" smtClean="0"/>
              <a:t>31-03-2026</a:t>
            </a:fld>
            <a:endParaRPr lang="en-IN"/>
          </a:p>
        </p:txBody>
      </p:sp>
      <p:sp>
        <p:nvSpPr>
          <p:cNvPr id="8" name="Footer Placeholder 7">
            <a:extLst>
              <a:ext uri="{FF2B5EF4-FFF2-40B4-BE49-F238E27FC236}">
                <a16:creationId xmlns:a16="http://schemas.microsoft.com/office/drawing/2014/main" id="{B6A0193B-A319-CF13-9E32-E8AD76512EE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F5D4C0C-777C-ED24-5748-A16ABB381B48}"/>
              </a:ext>
            </a:extLst>
          </p:cNvPr>
          <p:cNvSpPr>
            <a:spLocks noGrp="1"/>
          </p:cNvSpPr>
          <p:nvPr>
            <p:ph type="sldNum" sz="quarter" idx="12"/>
          </p:nvPr>
        </p:nvSpPr>
        <p:spPr/>
        <p:txBody>
          <a:bodyPr/>
          <a:lstStyle/>
          <a:p>
            <a:fld id="{8E60DF0C-0CDA-40E6-8012-C199C490FF8C}" type="slidenum">
              <a:rPr lang="en-IN" smtClean="0"/>
              <a:t>‹#›</a:t>
            </a:fld>
            <a:endParaRPr lang="en-IN"/>
          </a:p>
        </p:txBody>
      </p:sp>
    </p:spTree>
    <p:extLst>
      <p:ext uri="{BB962C8B-B14F-4D97-AF65-F5344CB8AC3E}">
        <p14:creationId xmlns:p14="http://schemas.microsoft.com/office/powerpoint/2010/main" val="2654698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9AC5E-5364-113C-1385-336F6EDDFB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E9FC251-1ECB-BF24-3BF0-0A8ABAD5D08C}"/>
              </a:ext>
            </a:extLst>
          </p:cNvPr>
          <p:cNvSpPr>
            <a:spLocks noGrp="1"/>
          </p:cNvSpPr>
          <p:nvPr>
            <p:ph type="dt" sz="half" idx="10"/>
          </p:nvPr>
        </p:nvSpPr>
        <p:spPr/>
        <p:txBody>
          <a:bodyPr/>
          <a:lstStyle/>
          <a:p>
            <a:fld id="{1A2769C5-5E12-494A-828F-9E1CEE321F9D}" type="datetimeFigureOut">
              <a:rPr lang="en-IN" smtClean="0"/>
              <a:t>31-03-2026</a:t>
            </a:fld>
            <a:endParaRPr lang="en-IN"/>
          </a:p>
        </p:txBody>
      </p:sp>
      <p:sp>
        <p:nvSpPr>
          <p:cNvPr id="4" name="Footer Placeholder 3">
            <a:extLst>
              <a:ext uri="{FF2B5EF4-FFF2-40B4-BE49-F238E27FC236}">
                <a16:creationId xmlns:a16="http://schemas.microsoft.com/office/drawing/2014/main" id="{2774BA3E-B8DC-ED9A-0AE7-5316A52B25E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16BFD74-71B4-9BD2-1700-F17BFA7FB5B7}"/>
              </a:ext>
            </a:extLst>
          </p:cNvPr>
          <p:cNvSpPr>
            <a:spLocks noGrp="1"/>
          </p:cNvSpPr>
          <p:nvPr>
            <p:ph type="sldNum" sz="quarter" idx="12"/>
          </p:nvPr>
        </p:nvSpPr>
        <p:spPr/>
        <p:txBody>
          <a:bodyPr/>
          <a:lstStyle/>
          <a:p>
            <a:fld id="{8E60DF0C-0CDA-40E6-8012-C199C490FF8C}" type="slidenum">
              <a:rPr lang="en-IN" smtClean="0"/>
              <a:t>‹#›</a:t>
            </a:fld>
            <a:endParaRPr lang="en-IN"/>
          </a:p>
        </p:txBody>
      </p:sp>
    </p:spTree>
    <p:extLst>
      <p:ext uri="{BB962C8B-B14F-4D97-AF65-F5344CB8AC3E}">
        <p14:creationId xmlns:p14="http://schemas.microsoft.com/office/powerpoint/2010/main" val="185119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B86F48-E89D-8613-F9AE-621EA39AB8B4}"/>
              </a:ext>
            </a:extLst>
          </p:cNvPr>
          <p:cNvSpPr>
            <a:spLocks noGrp="1"/>
          </p:cNvSpPr>
          <p:nvPr>
            <p:ph type="dt" sz="half" idx="10"/>
          </p:nvPr>
        </p:nvSpPr>
        <p:spPr/>
        <p:txBody>
          <a:bodyPr/>
          <a:lstStyle/>
          <a:p>
            <a:fld id="{1A2769C5-5E12-494A-828F-9E1CEE321F9D}" type="datetimeFigureOut">
              <a:rPr lang="en-IN" smtClean="0"/>
              <a:t>31-03-2026</a:t>
            </a:fld>
            <a:endParaRPr lang="en-IN"/>
          </a:p>
        </p:txBody>
      </p:sp>
      <p:sp>
        <p:nvSpPr>
          <p:cNvPr id="3" name="Footer Placeholder 2">
            <a:extLst>
              <a:ext uri="{FF2B5EF4-FFF2-40B4-BE49-F238E27FC236}">
                <a16:creationId xmlns:a16="http://schemas.microsoft.com/office/drawing/2014/main" id="{7DEA5316-AC1D-09AA-177C-DB4F0A601C2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1A8F9C9-2946-22F0-B3A5-F534233575EC}"/>
              </a:ext>
            </a:extLst>
          </p:cNvPr>
          <p:cNvSpPr>
            <a:spLocks noGrp="1"/>
          </p:cNvSpPr>
          <p:nvPr>
            <p:ph type="sldNum" sz="quarter" idx="12"/>
          </p:nvPr>
        </p:nvSpPr>
        <p:spPr/>
        <p:txBody>
          <a:bodyPr/>
          <a:lstStyle/>
          <a:p>
            <a:fld id="{8E60DF0C-0CDA-40E6-8012-C199C490FF8C}" type="slidenum">
              <a:rPr lang="en-IN" smtClean="0"/>
              <a:t>‹#›</a:t>
            </a:fld>
            <a:endParaRPr lang="en-IN"/>
          </a:p>
        </p:txBody>
      </p:sp>
    </p:spTree>
    <p:extLst>
      <p:ext uri="{BB962C8B-B14F-4D97-AF65-F5344CB8AC3E}">
        <p14:creationId xmlns:p14="http://schemas.microsoft.com/office/powerpoint/2010/main" val="809340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08931-658A-76C3-F044-BC6762B24E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2B7CD43-01E6-AD18-5A8F-A72C434832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1253A7-EC10-42EA-0F5F-E654DC8337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28C431-1E1C-C5B3-B0F8-59890BD019D9}"/>
              </a:ext>
            </a:extLst>
          </p:cNvPr>
          <p:cNvSpPr>
            <a:spLocks noGrp="1"/>
          </p:cNvSpPr>
          <p:nvPr>
            <p:ph type="dt" sz="half" idx="10"/>
          </p:nvPr>
        </p:nvSpPr>
        <p:spPr/>
        <p:txBody>
          <a:bodyPr/>
          <a:lstStyle/>
          <a:p>
            <a:fld id="{1A2769C5-5E12-494A-828F-9E1CEE321F9D}" type="datetimeFigureOut">
              <a:rPr lang="en-IN" smtClean="0"/>
              <a:t>31-03-2026</a:t>
            </a:fld>
            <a:endParaRPr lang="en-IN"/>
          </a:p>
        </p:txBody>
      </p:sp>
      <p:sp>
        <p:nvSpPr>
          <p:cNvPr id="6" name="Footer Placeholder 5">
            <a:extLst>
              <a:ext uri="{FF2B5EF4-FFF2-40B4-BE49-F238E27FC236}">
                <a16:creationId xmlns:a16="http://schemas.microsoft.com/office/drawing/2014/main" id="{57FFE99B-D1A9-A3DF-EF81-6D3AFAD48F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03D327-B0F9-8992-C3C5-9889DBAE6690}"/>
              </a:ext>
            </a:extLst>
          </p:cNvPr>
          <p:cNvSpPr>
            <a:spLocks noGrp="1"/>
          </p:cNvSpPr>
          <p:nvPr>
            <p:ph type="sldNum" sz="quarter" idx="12"/>
          </p:nvPr>
        </p:nvSpPr>
        <p:spPr/>
        <p:txBody>
          <a:bodyPr/>
          <a:lstStyle/>
          <a:p>
            <a:fld id="{8E60DF0C-0CDA-40E6-8012-C199C490FF8C}" type="slidenum">
              <a:rPr lang="en-IN" smtClean="0"/>
              <a:t>‹#›</a:t>
            </a:fld>
            <a:endParaRPr lang="en-IN"/>
          </a:p>
        </p:txBody>
      </p:sp>
    </p:spTree>
    <p:extLst>
      <p:ext uri="{BB962C8B-B14F-4D97-AF65-F5344CB8AC3E}">
        <p14:creationId xmlns:p14="http://schemas.microsoft.com/office/powerpoint/2010/main" val="3246786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053AB-C28C-D5FA-C289-A009A58D3D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4F2B8BD-7DFC-C3E4-964A-76153BE5CB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C06111A-8900-6A96-B4FD-062FA4BB96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81303C-1875-E5A9-7C88-D38C454B40EF}"/>
              </a:ext>
            </a:extLst>
          </p:cNvPr>
          <p:cNvSpPr>
            <a:spLocks noGrp="1"/>
          </p:cNvSpPr>
          <p:nvPr>
            <p:ph type="dt" sz="half" idx="10"/>
          </p:nvPr>
        </p:nvSpPr>
        <p:spPr/>
        <p:txBody>
          <a:bodyPr/>
          <a:lstStyle/>
          <a:p>
            <a:fld id="{1A2769C5-5E12-494A-828F-9E1CEE321F9D}" type="datetimeFigureOut">
              <a:rPr lang="en-IN" smtClean="0"/>
              <a:t>31-03-2026</a:t>
            </a:fld>
            <a:endParaRPr lang="en-IN"/>
          </a:p>
        </p:txBody>
      </p:sp>
      <p:sp>
        <p:nvSpPr>
          <p:cNvPr id="6" name="Footer Placeholder 5">
            <a:extLst>
              <a:ext uri="{FF2B5EF4-FFF2-40B4-BE49-F238E27FC236}">
                <a16:creationId xmlns:a16="http://schemas.microsoft.com/office/drawing/2014/main" id="{F0FE1816-38FA-9839-D145-939B47B4ED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871232-5836-5E07-B81A-4657B15DEF46}"/>
              </a:ext>
            </a:extLst>
          </p:cNvPr>
          <p:cNvSpPr>
            <a:spLocks noGrp="1"/>
          </p:cNvSpPr>
          <p:nvPr>
            <p:ph type="sldNum" sz="quarter" idx="12"/>
          </p:nvPr>
        </p:nvSpPr>
        <p:spPr/>
        <p:txBody>
          <a:bodyPr/>
          <a:lstStyle/>
          <a:p>
            <a:fld id="{8E60DF0C-0CDA-40E6-8012-C199C490FF8C}" type="slidenum">
              <a:rPr lang="en-IN" smtClean="0"/>
              <a:t>‹#›</a:t>
            </a:fld>
            <a:endParaRPr lang="en-IN"/>
          </a:p>
        </p:txBody>
      </p:sp>
    </p:spTree>
    <p:extLst>
      <p:ext uri="{BB962C8B-B14F-4D97-AF65-F5344CB8AC3E}">
        <p14:creationId xmlns:p14="http://schemas.microsoft.com/office/powerpoint/2010/main" val="98992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1306B-C873-96BB-B0CC-32F612DBFEF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4C03EB-FFBA-C50A-648B-54E708CE48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0468C3-8DF7-7738-626F-CCBBE6C3264A}"/>
              </a:ext>
            </a:extLst>
          </p:cNvPr>
          <p:cNvSpPr>
            <a:spLocks noGrp="1"/>
          </p:cNvSpPr>
          <p:nvPr>
            <p:ph type="dt" sz="half" idx="10"/>
          </p:nvPr>
        </p:nvSpPr>
        <p:spPr/>
        <p:txBody>
          <a:bodyPr/>
          <a:lstStyle/>
          <a:p>
            <a:fld id="{1A2769C5-5E12-494A-828F-9E1CEE321F9D}" type="datetimeFigureOut">
              <a:rPr lang="en-IN" smtClean="0"/>
              <a:t>31-03-2026</a:t>
            </a:fld>
            <a:endParaRPr lang="en-IN"/>
          </a:p>
        </p:txBody>
      </p:sp>
      <p:sp>
        <p:nvSpPr>
          <p:cNvPr id="5" name="Footer Placeholder 4">
            <a:extLst>
              <a:ext uri="{FF2B5EF4-FFF2-40B4-BE49-F238E27FC236}">
                <a16:creationId xmlns:a16="http://schemas.microsoft.com/office/drawing/2014/main" id="{DD915375-36A2-AFF6-8B7C-5AE5078CE9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DE8CB0-111A-04B1-F120-3C71CDC92FBD}"/>
              </a:ext>
            </a:extLst>
          </p:cNvPr>
          <p:cNvSpPr>
            <a:spLocks noGrp="1"/>
          </p:cNvSpPr>
          <p:nvPr>
            <p:ph type="sldNum" sz="quarter" idx="12"/>
          </p:nvPr>
        </p:nvSpPr>
        <p:spPr/>
        <p:txBody>
          <a:bodyPr/>
          <a:lstStyle/>
          <a:p>
            <a:fld id="{8E60DF0C-0CDA-40E6-8012-C199C490FF8C}" type="slidenum">
              <a:rPr lang="en-IN" smtClean="0"/>
              <a:t>‹#›</a:t>
            </a:fld>
            <a:endParaRPr lang="en-IN"/>
          </a:p>
        </p:txBody>
      </p:sp>
    </p:spTree>
    <p:extLst>
      <p:ext uri="{BB962C8B-B14F-4D97-AF65-F5344CB8AC3E}">
        <p14:creationId xmlns:p14="http://schemas.microsoft.com/office/powerpoint/2010/main" val="3622206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C7E4F8-FAD2-2927-600D-6F099DBCF06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70C6A8-7A90-7E4C-135A-A94645D459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9EA64D-1CAB-55AB-2037-2F9F3FAF41E0}"/>
              </a:ext>
            </a:extLst>
          </p:cNvPr>
          <p:cNvSpPr>
            <a:spLocks noGrp="1"/>
          </p:cNvSpPr>
          <p:nvPr>
            <p:ph type="dt" sz="half" idx="10"/>
          </p:nvPr>
        </p:nvSpPr>
        <p:spPr/>
        <p:txBody>
          <a:bodyPr/>
          <a:lstStyle/>
          <a:p>
            <a:fld id="{1A2769C5-5E12-494A-828F-9E1CEE321F9D}" type="datetimeFigureOut">
              <a:rPr lang="en-IN" smtClean="0"/>
              <a:t>31-03-2026</a:t>
            </a:fld>
            <a:endParaRPr lang="en-IN"/>
          </a:p>
        </p:txBody>
      </p:sp>
      <p:sp>
        <p:nvSpPr>
          <p:cNvPr id="5" name="Footer Placeholder 4">
            <a:extLst>
              <a:ext uri="{FF2B5EF4-FFF2-40B4-BE49-F238E27FC236}">
                <a16:creationId xmlns:a16="http://schemas.microsoft.com/office/drawing/2014/main" id="{237415DF-5801-8012-1EDF-1AE4AB0A99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9B3D72-CF7B-5F33-7150-2B4AA31A6F0E}"/>
              </a:ext>
            </a:extLst>
          </p:cNvPr>
          <p:cNvSpPr>
            <a:spLocks noGrp="1"/>
          </p:cNvSpPr>
          <p:nvPr>
            <p:ph type="sldNum" sz="quarter" idx="12"/>
          </p:nvPr>
        </p:nvSpPr>
        <p:spPr/>
        <p:txBody>
          <a:bodyPr/>
          <a:lstStyle/>
          <a:p>
            <a:fld id="{8E60DF0C-0CDA-40E6-8012-C199C490FF8C}" type="slidenum">
              <a:rPr lang="en-IN" smtClean="0"/>
              <a:t>‹#›</a:t>
            </a:fld>
            <a:endParaRPr lang="en-IN"/>
          </a:p>
        </p:txBody>
      </p:sp>
    </p:spTree>
    <p:extLst>
      <p:ext uri="{BB962C8B-B14F-4D97-AF65-F5344CB8AC3E}">
        <p14:creationId xmlns:p14="http://schemas.microsoft.com/office/powerpoint/2010/main" val="3771821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45CE28-2A38-1703-26FB-471FA02EC5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E8BB05-F96A-973B-6A5B-2E84C1FD05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C5E2BF-7404-39C9-1A27-A37EFE081C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2769C5-5E12-494A-828F-9E1CEE321F9D}" type="datetimeFigureOut">
              <a:rPr lang="en-IN" smtClean="0"/>
              <a:t>31-03-2026</a:t>
            </a:fld>
            <a:endParaRPr lang="en-IN"/>
          </a:p>
        </p:txBody>
      </p:sp>
      <p:sp>
        <p:nvSpPr>
          <p:cNvPr id="5" name="Footer Placeholder 4">
            <a:extLst>
              <a:ext uri="{FF2B5EF4-FFF2-40B4-BE49-F238E27FC236}">
                <a16:creationId xmlns:a16="http://schemas.microsoft.com/office/drawing/2014/main" id="{1AE539D8-FFEE-49D8-1008-4E36C76C3F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F4DDBD9-6CC0-0FF1-5209-55D4E1C273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E60DF0C-0CDA-40E6-8012-C199C490FF8C}" type="slidenum">
              <a:rPr lang="en-IN" smtClean="0"/>
              <a:t>‹#›</a:t>
            </a:fld>
            <a:endParaRPr lang="en-IN"/>
          </a:p>
        </p:txBody>
      </p:sp>
    </p:spTree>
    <p:extLst>
      <p:ext uri="{BB962C8B-B14F-4D97-AF65-F5344CB8AC3E}">
        <p14:creationId xmlns:p14="http://schemas.microsoft.com/office/powerpoint/2010/main" val="189719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midog2025.deepmicroscopy.org/datasets/"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6F879-55E5-8093-069B-E4068742330F}"/>
              </a:ext>
            </a:extLst>
          </p:cNvPr>
          <p:cNvSpPr>
            <a:spLocks noGrp="1"/>
          </p:cNvSpPr>
          <p:nvPr>
            <p:ph type="ctrTitle"/>
          </p:nvPr>
        </p:nvSpPr>
        <p:spPr/>
        <p:txBody>
          <a:bodyPr>
            <a:normAutofit/>
          </a:bodyPr>
          <a:lstStyle/>
          <a:p>
            <a:r>
              <a:rPr lang="en-US" sz="4400" dirty="0">
                <a:latin typeface="Tisa Offc Serif Pro" panose="02010504030101020102" pitchFamily="2" charset="0"/>
              </a:rPr>
              <a:t>Atypical Mitosis Classification in Histopathology Using Deep Learning </a:t>
            </a:r>
            <a:endParaRPr lang="en-IN" sz="4400" dirty="0">
              <a:latin typeface="Tisa Offc Serif Pro" panose="02010504030101020102" pitchFamily="2" charset="0"/>
            </a:endParaRPr>
          </a:p>
        </p:txBody>
      </p:sp>
      <p:sp>
        <p:nvSpPr>
          <p:cNvPr id="3" name="Subtitle 2">
            <a:extLst>
              <a:ext uri="{FF2B5EF4-FFF2-40B4-BE49-F238E27FC236}">
                <a16:creationId xmlns:a16="http://schemas.microsoft.com/office/drawing/2014/main" id="{90D2B913-D49B-76FD-44B3-953701C4660C}"/>
              </a:ext>
            </a:extLst>
          </p:cNvPr>
          <p:cNvSpPr>
            <a:spLocks noGrp="1"/>
          </p:cNvSpPr>
          <p:nvPr>
            <p:ph type="subTitle" idx="1"/>
          </p:nvPr>
        </p:nvSpPr>
        <p:spPr>
          <a:xfrm>
            <a:off x="7885470" y="4739147"/>
            <a:ext cx="3293807" cy="1160207"/>
          </a:xfrm>
        </p:spPr>
        <p:txBody>
          <a:bodyPr>
            <a:normAutofit/>
          </a:bodyPr>
          <a:lstStyle/>
          <a:p>
            <a:pPr algn="l"/>
            <a:endParaRPr lang="en-IN" sz="1600" dirty="0">
              <a:latin typeface="Tisa Offc Serif Pro" panose="02010504030101020102" pitchFamily="2" charset="0"/>
            </a:endParaRPr>
          </a:p>
        </p:txBody>
      </p:sp>
    </p:spTree>
    <p:extLst>
      <p:ext uri="{BB962C8B-B14F-4D97-AF65-F5344CB8AC3E}">
        <p14:creationId xmlns:p14="http://schemas.microsoft.com/office/powerpoint/2010/main" val="3220780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F7DCF-853F-F66A-7B91-91D719726DFE}"/>
              </a:ext>
            </a:extLst>
          </p:cNvPr>
          <p:cNvSpPr>
            <a:spLocks noGrp="1"/>
          </p:cNvSpPr>
          <p:nvPr>
            <p:ph type="title"/>
          </p:nvPr>
        </p:nvSpPr>
        <p:spPr/>
        <p:txBody>
          <a:bodyPr/>
          <a:lstStyle/>
          <a:p>
            <a:r>
              <a:rPr lang="en-IN" dirty="0">
                <a:latin typeface="Tisa Offc Serif Pro" panose="020F0502020204030204" pitchFamily="2"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538C2B7E-8EC9-1D68-C473-15996AA94E33}"/>
              </a:ext>
            </a:extLst>
          </p:cNvPr>
          <p:cNvSpPr>
            <a:spLocks noGrp="1"/>
          </p:cNvSpPr>
          <p:nvPr>
            <p:ph idx="1"/>
          </p:nvPr>
        </p:nvSpPr>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Accurate identification of atypical mitotic figures in histopathology images is crucial for assessing tumor aggressiveness, but their irregular and diverse morphologies make manual classification difficult and inconsistent. This project focuses on developing a deep learning model to distinguish typical from atypical mitotic figures using the MIDOG 2025 dataset.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Challenges include </a:t>
            </a:r>
            <a:r>
              <a:rPr lang="en-US" sz="2400" dirty="0">
                <a:latin typeface="Times New Roman" panose="02020603050405020304" pitchFamily="18" charset="0"/>
                <a:cs typeface="Times New Roman" panose="02020603050405020304" pitchFamily="18" charset="0"/>
              </a:rPr>
              <a:t>- Handling the high visual variability of atypical mitoses, their similarity to typical figures, class imbalance, and domain differences in staining and imaging.</a:t>
            </a:r>
          </a:p>
          <a:p>
            <a:pPr marL="0" indent="0">
              <a:buNone/>
            </a:pPr>
            <a:r>
              <a:rPr lang="en-IN" sz="2400" b="1" dirty="0">
                <a:latin typeface="Times New Roman" panose="02020603050405020304" pitchFamily="18" charset="0"/>
                <a:cs typeface="Times New Roman" panose="02020603050405020304" pitchFamily="18" charset="0"/>
              </a:rPr>
              <a:t>Goal</a:t>
            </a:r>
            <a:r>
              <a:rPr lang="en-IN" sz="2400" dirty="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To build a robust and generalizable deep learning classifier that can accurately identify atypical mitotic figures, thereby improving diagnostic consistency and supporting more objective tumor grading.</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1669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92013-8C88-322B-D7E6-4C971E270C93}"/>
              </a:ext>
            </a:extLst>
          </p:cNvPr>
          <p:cNvSpPr>
            <a:spLocks noGrp="1"/>
          </p:cNvSpPr>
          <p:nvPr>
            <p:ph type="title"/>
          </p:nvPr>
        </p:nvSpPr>
        <p:spPr/>
        <p:txBody>
          <a:bodyPr/>
          <a:lstStyle/>
          <a:p>
            <a:r>
              <a:rPr lang="en-IN">
                <a:latin typeface="Tisa Offc Serif Pro" panose="02010504030101020102" pitchFamily="2" charset="0"/>
              </a:rPr>
              <a:t>Dataset</a:t>
            </a:r>
            <a:endParaRPr lang="en-IN" dirty="0">
              <a:latin typeface="Tisa Offc Serif Pro" panose="02010504030101020102" pitchFamily="2" charset="0"/>
            </a:endParaRPr>
          </a:p>
        </p:txBody>
      </p:sp>
      <p:sp>
        <p:nvSpPr>
          <p:cNvPr id="3" name="Content Placeholder 2">
            <a:extLst>
              <a:ext uri="{FF2B5EF4-FFF2-40B4-BE49-F238E27FC236}">
                <a16:creationId xmlns:a16="http://schemas.microsoft.com/office/drawing/2014/main" id="{436079DD-09D8-3F6E-8ADB-AA06A38E3C84}"/>
              </a:ext>
            </a:extLst>
          </p:cNvPr>
          <p:cNvSpPr>
            <a:spLocks noGrp="1"/>
          </p:cNvSpPr>
          <p:nvPr>
            <p:ph idx="1"/>
          </p:nvPr>
        </p:nvSpPr>
        <p:spPr/>
        <p:txBody>
          <a:bodyPr>
            <a:normAutofit fontScale="92500" lnSpcReduction="20000"/>
          </a:bodyPr>
          <a:lstStyle/>
          <a:p>
            <a:pPr marL="0" indent="0">
              <a:buNone/>
            </a:pPr>
            <a:r>
              <a:rPr lang="en-US" sz="2000" b="1" dirty="0">
                <a:latin typeface="Times New Roman" panose="02020603050405020304" pitchFamily="18" charset="0"/>
                <a:cs typeface="Times New Roman" panose="02020603050405020304" pitchFamily="18" charset="0"/>
              </a:rPr>
              <a:t>Dataset Overview :</a:t>
            </a:r>
            <a:r>
              <a:rPr lang="en-IN" sz="2000" b="1"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hlinkClick r:id="rId2"/>
              </a:rPr>
              <a:t>MIDOG++ Atypical Benchmark</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Combines </a:t>
            </a:r>
            <a:r>
              <a:rPr lang="en-US" sz="2000" dirty="0">
                <a:latin typeface="Times New Roman" panose="02020603050405020304" pitchFamily="18" charset="0"/>
                <a:cs typeface="Times New Roman" panose="02020603050405020304" pitchFamily="18" charset="0"/>
              </a:rPr>
              <a:t>data from MIDOG25, MIDOG21, TUPAC16, and AMI-BR</a:t>
            </a:r>
          </a:p>
          <a:p>
            <a:r>
              <a:rPr lang="en-US" sz="2000" dirty="0">
                <a:latin typeface="Times New Roman" panose="02020603050405020304" pitchFamily="18" charset="0"/>
                <a:cs typeface="Times New Roman" panose="02020603050405020304" pitchFamily="18" charset="0"/>
              </a:rPr>
              <a:t>~14,000 annotated 224×224 PNG images of mitotic figures</a:t>
            </a:r>
          </a:p>
          <a:p>
            <a:r>
              <a:rPr lang="en-US" sz="2000" dirty="0">
                <a:latin typeface="Times New Roman" panose="02020603050405020304" pitchFamily="18" charset="0"/>
                <a:cs typeface="Times New Roman" panose="02020603050405020304" pitchFamily="18" charset="0"/>
              </a:rPr>
              <a:t>2 classes :AMF(Atypical Mitotic Figures)and NMF(Normal Mitotic Figures)</a:t>
            </a:r>
          </a:p>
          <a:p>
            <a:r>
              <a:rPr lang="en-US" sz="2000" dirty="0">
                <a:latin typeface="Times New Roman" panose="02020603050405020304" pitchFamily="18" charset="0"/>
                <a:cs typeface="Times New Roman" panose="02020603050405020304" pitchFamily="18" charset="0"/>
              </a:rPr>
              <a:t>Stratified split: ~9000/~3000/~3000 (Train/Validation/Test respectively)</a:t>
            </a:r>
          </a:p>
          <a:p>
            <a:pPr marL="0" indent="0">
              <a:buNone/>
            </a:pPr>
            <a:r>
              <a:rPr lang="en-US" sz="2000" b="1" dirty="0">
                <a:latin typeface="Times New Roman" panose="02020603050405020304" pitchFamily="18" charset="0"/>
                <a:cs typeface="Times New Roman" panose="02020603050405020304" pitchFamily="18" charset="0"/>
              </a:rPr>
              <a:t>Augmented Training Dataset :</a:t>
            </a:r>
          </a:p>
          <a:p>
            <a:r>
              <a:rPr lang="en-IN" sz="2000" dirty="0">
                <a:latin typeface="Times New Roman" panose="02020603050405020304" pitchFamily="18" charset="0"/>
                <a:cs typeface="Times New Roman" panose="02020603050405020304" pitchFamily="18" charset="0"/>
              </a:rPr>
              <a:t>Augmentation Strategy (4× per AMF image)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 Random rotation (15°–30°)</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II. Horizontal flip + brightness adjustment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III. Vertical flip + contrast adjustment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IV. Rotation + sharpness enhancement</a:t>
            </a:r>
          </a:p>
          <a:p>
            <a:r>
              <a:rPr lang="en-IN" sz="2000" dirty="0">
                <a:latin typeface="Times New Roman" panose="02020603050405020304" pitchFamily="18" charset="0"/>
                <a:cs typeface="Times New Roman" panose="02020603050405020304" pitchFamily="18" charset="0"/>
              </a:rPr>
              <a:t>Final Balanced Dataset: 19,162 total images.</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Training: </a:t>
            </a:r>
            <a:r>
              <a:rPr lang="en-IN" sz="2000" dirty="0">
                <a:latin typeface="Times New Roman" panose="02020603050405020304" pitchFamily="18" charset="0"/>
                <a:cs typeface="Times New Roman" panose="02020603050405020304" pitchFamily="18" charset="0"/>
              </a:rPr>
              <a:t>13,586 (balanced 1:1 ; NMF:AMF)</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Validation and Test : </a:t>
            </a:r>
            <a:r>
              <a:rPr lang="en-IN" sz="2000" dirty="0">
                <a:latin typeface="Times New Roman" panose="02020603050405020304" pitchFamily="18" charset="0"/>
                <a:cs typeface="Times New Roman" panose="02020603050405020304" pitchFamily="18" charset="0"/>
              </a:rPr>
              <a:t>2788</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0A6B218-9027-67B9-0503-A051994F8E0B}"/>
              </a:ext>
            </a:extLst>
          </p:cNvPr>
          <p:cNvPicPr>
            <a:picLocks noChangeAspect="1"/>
          </p:cNvPicPr>
          <p:nvPr/>
        </p:nvPicPr>
        <p:blipFill>
          <a:blip r:embed="rId3"/>
          <a:stretch>
            <a:fillRect/>
          </a:stretch>
        </p:blipFill>
        <p:spPr>
          <a:xfrm>
            <a:off x="8779630" y="1690688"/>
            <a:ext cx="3048000" cy="1744065"/>
          </a:xfrm>
          <a:prstGeom prst="rect">
            <a:avLst/>
          </a:prstGeom>
        </p:spPr>
      </p:pic>
      <p:pic>
        <p:nvPicPr>
          <p:cNvPr id="12" name="Picture 11">
            <a:extLst>
              <a:ext uri="{FF2B5EF4-FFF2-40B4-BE49-F238E27FC236}">
                <a16:creationId xmlns:a16="http://schemas.microsoft.com/office/drawing/2014/main" id="{99C7963D-EFA1-416B-EAA2-68505267D953}"/>
              </a:ext>
            </a:extLst>
          </p:cNvPr>
          <p:cNvPicPr>
            <a:picLocks noChangeAspect="1"/>
          </p:cNvPicPr>
          <p:nvPr/>
        </p:nvPicPr>
        <p:blipFill>
          <a:blip r:embed="rId4"/>
          <a:stretch>
            <a:fillRect/>
          </a:stretch>
        </p:blipFill>
        <p:spPr>
          <a:xfrm>
            <a:off x="6183285" y="4767768"/>
            <a:ext cx="5748059" cy="1257205"/>
          </a:xfrm>
          <a:prstGeom prst="rect">
            <a:avLst/>
          </a:prstGeom>
        </p:spPr>
      </p:pic>
      <p:sp>
        <p:nvSpPr>
          <p:cNvPr id="13" name="TextBox 12">
            <a:extLst>
              <a:ext uri="{FF2B5EF4-FFF2-40B4-BE49-F238E27FC236}">
                <a16:creationId xmlns:a16="http://schemas.microsoft.com/office/drawing/2014/main" id="{2168C475-5565-FE8D-E19A-0CCAD368427D}"/>
              </a:ext>
            </a:extLst>
          </p:cNvPr>
          <p:cNvSpPr txBox="1"/>
          <p:nvPr/>
        </p:nvSpPr>
        <p:spPr>
          <a:xfrm>
            <a:off x="8849032" y="3569690"/>
            <a:ext cx="3082312" cy="261610"/>
          </a:xfrm>
          <a:prstGeom prst="rect">
            <a:avLst/>
          </a:prstGeom>
          <a:noFill/>
        </p:spPr>
        <p:txBody>
          <a:bodyPr wrap="square" rtlCol="0">
            <a:spAutoFit/>
          </a:bodyPr>
          <a:lstStyle/>
          <a:p>
            <a:pPr algn="ctr"/>
            <a:r>
              <a:rPr lang="en-US" sz="1100" dirty="0">
                <a:latin typeface="Times New Roman" panose="02020603050405020304" pitchFamily="18" charset="0"/>
                <a:cs typeface="Times New Roman" panose="02020603050405020304" pitchFamily="18" charset="0"/>
              </a:rPr>
              <a:t>Sample image from Dataset</a:t>
            </a:r>
            <a:endParaRPr lang="en-IN" sz="11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6E13F5CF-9C13-10C5-A35D-949124FD6ACE}"/>
              </a:ext>
            </a:extLst>
          </p:cNvPr>
          <p:cNvSpPr txBox="1"/>
          <p:nvPr/>
        </p:nvSpPr>
        <p:spPr>
          <a:xfrm>
            <a:off x="6312310" y="6024973"/>
            <a:ext cx="5338916" cy="261610"/>
          </a:xfrm>
          <a:prstGeom prst="rect">
            <a:avLst/>
          </a:prstGeom>
          <a:noFill/>
        </p:spPr>
        <p:txBody>
          <a:bodyPr wrap="square" rtlCol="0">
            <a:spAutoFit/>
          </a:bodyPr>
          <a:lstStyle/>
          <a:p>
            <a:pPr algn="ctr"/>
            <a:r>
              <a:rPr lang="en-US" sz="1100" dirty="0">
                <a:latin typeface="Times New Roman" panose="02020603050405020304" pitchFamily="18" charset="0"/>
                <a:cs typeface="Times New Roman" panose="02020603050405020304" pitchFamily="18" charset="0"/>
              </a:rPr>
              <a:t>Sample image from Augmented Dataset</a:t>
            </a:r>
            <a:endParaRPr lang="en-IN"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7741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63917-FC9D-BA21-B04B-85344EBB4BF6}"/>
              </a:ext>
            </a:extLst>
          </p:cNvPr>
          <p:cNvSpPr>
            <a:spLocks noGrp="1"/>
          </p:cNvSpPr>
          <p:nvPr>
            <p:ph type="title"/>
          </p:nvPr>
        </p:nvSpPr>
        <p:spPr/>
        <p:txBody>
          <a:bodyPr/>
          <a:lstStyle/>
          <a:p>
            <a:r>
              <a:rPr lang="en-US" dirty="0">
                <a:latin typeface="Tisa Offc Serif Pro" panose="02010504030101020102" pitchFamily="2" charset="0"/>
              </a:rPr>
              <a:t>Motivation</a:t>
            </a:r>
            <a:endParaRPr lang="en-IN" dirty="0">
              <a:latin typeface="Tisa Offc Serif Pro" panose="02010504030101020102" pitchFamily="2" charset="0"/>
            </a:endParaRPr>
          </a:p>
        </p:txBody>
      </p:sp>
      <p:sp>
        <p:nvSpPr>
          <p:cNvPr id="3" name="Content Placeholder 2">
            <a:extLst>
              <a:ext uri="{FF2B5EF4-FFF2-40B4-BE49-F238E27FC236}">
                <a16:creationId xmlns:a16="http://schemas.microsoft.com/office/drawing/2014/main" id="{8B94ABCC-DEB1-14AF-634A-5B0FD63E5318}"/>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Identifying atypical mitotic figures is an important part of diagnosing how aggressive a tumor is, but these cells often look very irregular and are easy to miss, even for experienced pathologists. This makes the process slow, tiring, and sometimes inconsistent. With the amount of digital pathology data growing, it becomes even harder to manually review everything accurately. This project is motivated by the need for a reliable, automated system that can support pathologists by reducing their workload, improving consistency, and helping ensure patients receive faster and more accurate cancer assessments.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4486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7B573-5F27-16BD-ADE4-22712623D4B0}"/>
              </a:ext>
            </a:extLst>
          </p:cNvPr>
          <p:cNvSpPr>
            <a:spLocks noGrp="1"/>
          </p:cNvSpPr>
          <p:nvPr>
            <p:ph type="title"/>
          </p:nvPr>
        </p:nvSpPr>
        <p:spPr/>
        <p:txBody>
          <a:bodyPr/>
          <a:lstStyle/>
          <a:p>
            <a:r>
              <a:rPr lang="en-US" dirty="0">
                <a:latin typeface="Tisa Offc Serif Pro" panose="02010504030101020102" pitchFamily="2" charset="0"/>
              </a:rPr>
              <a:t>Literature Survey</a:t>
            </a:r>
            <a:endParaRPr lang="en-IN" dirty="0">
              <a:latin typeface="Tisa Offc Serif Pro" panose="02010504030101020102" pitchFamily="2" charset="0"/>
            </a:endParaRPr>
          </a:p>
        </p:txBody>
      </p:sp>
      <p:graphicFrame>
        <p:nvGraphicFramePr>
          <p:cNvPr id="4" name="Content Placeholder 3">
            <a:extLst>
              <a:ext uri="{FF2B5EF4-FFF2-40B4-BE49-F238E27FC236}">
                <a16:creationId xmlns:a16="http://schemas.microsoft.com/office/drawing/2014/main" id="{5FD28BE6-7FE3-20DE-DF18-7F04BD02D049}"/>
              </a:ext>
            </a:extLst>
          </p:cNvPr>
          <p:cNvGraphicFramePr>
            <a:graphicFrameLocks noGrp="1"/>
          </p:cNvGraphicFramePr>
          <p:nvPr>
            <p:ph idx="1"/>
            <p:extLst>
              <p:ext uri="{D42A27DB-BD31-4B8C-83A1-F6EECF244321}">
                <p14:modId xmlns:p14="http://schemas.microsoft.com/office/powerpoint/2010/main" val="2466952025"/>
              </p:ext>
            </p:extLst>
          </p:nvPr>
        </p:nvGraphicFramePr>
        <p:xfrm>
          <a:off x="838203" y="1422502"/>
          <a:ext cx="10515597" cy="494284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520180912"/>
                    </a:ext>
                  </a:extLst>
                </a:gridCol>
                <a:gridCol w="3505199">
                  <a:extLst>
                    <a:ext uri="{9D8B030D-6E8A-4147-A177-3AD203B41FA5}">
                      <a16:colId xmlns:a16="http://schemas.microsoft.com/office/drawing/2014/main" val="2369256699"/>
                    </a:ext>
                  </a:extLst>
                </a:gridCol>
                <a:gridCol w="3505199">
                  <a:extLst>
                    <a:ext uri="{9D8B030D-6E8A-4147-A177-3AD203B41FA5}">
                      <a16:colId xmlns:a16="http://schemas.microsoft.com/office/drawing/2014/main" val="939832619"/>
                    </a:ext>
                  </a:extLst>
                </a:gridCol>
              </a:tblGrid>
              <a:tr h="370840">
                <a:tc>
                  <a:txBody>
                    <a:bodyPr/>
                    <a:lstStyle/>
                    <a:p>
                      <a:r>
                        <a:rPr lang="en-US">
                          <a:latin typeface="Times New Roman" panose="02020603050405020304" pitchFamily="18" charset="0"/>
                          <a:cs typeface="Times New Roman" panose="02020603050405020304" pitchFamily="18" charset="0"/>
                        </a:rPr>
                        <a:t>Title</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Year &amp; Authors</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Summary</a:t>
                      </a:r>
                    </a:p>
                  </a:txBody>
                  <a:tcPr/>
                </a:tc>
                <a:extLst>
                  <a:ext uri="{0D108BD9-81ED-4DB2-BD59-A6C34878D82A}">
                    <a16:rowId xmlns:a16="http://schemas.microsoft.com/office/drawing/2014/main" val="2433239375"/>
                  </a:ext>
                </a:extLst>
              </a:tr>
              <a:tr h="370840">
                <a:tc>
                  <a:txBody>
                    <a:bodyPr/>
                    <a:lstStyle/>
                    <a:p>
                      <a:r>
                        <a:rPr lang="en-US" dirty="0">
                          <a:latin typeface="Times New Roman" panose="02020603050405020304" pitchFamily="18" charset="0"/>
                          <a:cs typeface="Times New Roman" panose="02020603050405020304" pitchFamily="18" charset="0"/>
                        </a:rPr>
                        <a:t>Improving CNN-Based Mitosis Detection Through Rescanning Annotated Glass Slides and Atypical Mitosis Subtyping</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2024 &amp; Rutger R. H. Fick, Christof Bertram, Marc </a:t>
                      </a:r>
                      <a:r>
                        <a:rPr lang="en-IN" dirty="0" err="1">
                          <a:latin typeface="Times New Roman" panose="02020603050405020304" pitchFamily="18" charset="0"/>
                          <a:cs typeface="Times New Roman" panose="02020603050405020304" pitchFamily="18" charset="0"/>
                        </a:rPr>
                        <a:t>Aubreville</a:t>
                      </a:r>
                      <a:endParaRPr lang="en-IN"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The paper improves mitosis detection by rescanning annotated slides across multiple scanners to create a cleaner, more robust dataset and filtering out unreliable labels. It also adds a secondary task that classifies mitotic figures as normal or atypical, which strengthens overall detection performance. Using this approach, the authors achieve strong and consistent results across diverse scanners, organs, and species.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37434758"/>
                  </a:ext>
                </a:extLst>
              </a:tr>
              <a:tr h="370840">
                <a:tc>
                  <a:txBody>
                    <a:bodyPr/>
                    <a:lstStyle/>
                    <a:p>
                      <a:r>
                        <a:rPr lang="en-US" dirty="0">
                          <a:latin typeface="Times New Roman" panose="02020603050405020304" pitchFamily="18" charset="0"/>
                          <a:cs typeface="Times New Roman" panose="02020603050405020304" pitchFamily="18" charset="0"/>
                        </a:rPr>
                        <a:t>Reference Algorithms for the Mitosis Domain Generalization (MIDOG) 2022 Challenge</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2022 &amp; Jonas Ammeling, Frauke Wilm, Jonathan Ganz, Katharina Breininger, Marc </a:t>
                      </a:r>
                      <a:r>
                        <a:rPr lang="en-IN" dirty="0" err="1">
                          <a:latin typeface="Times New Roman" panose="02020603050405020304" pitchFamily="18" charset="0"/>
                          <a:cs typeface="Times New Roman" panose="02020603050405020304" pitchFamily="18" charset="0"/>
                        </a:rPr>
                        <a:t>Aubreville</a:t>
                      </a:r>
                      <a:endParaRPr lang="en-IN"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This paper presents baseline and reference algorithms for the MIDOG 2022 challenge, evaluating multiple detection models across diverse scanners and tissue types to establish standard benchmarks for mitosis domain generalization. It provides reliable performance baselines, highlights key domain-shift challenges, and supports fair comparison for competing methods.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57794811"/>
                  </a:ext>
                </a:extLst>
              </a:tr>
              <a:tr h="370840">
                <a:tc>
                  <a:txBody>
                    <a:bodyPr/>
                    <a:lstStyle/>
                    <a:p>
                      <a:r>
                        <a:rPr lang="en-US" dirty="0">
                          <a:latin typeface="Times New Roman" panose="02020603050405020304" pitchFamily="18" charset="0"/>
                          <a:cs typeface="Times New Roman" panose="02020603050405020304" pitchFamily="18" charset="0"/>
                        </a:rPr>
                        <a:t>A Deep Learning-Based Ensemble Model for Generalized Mitosis Detection in H&amp;E-Stained Whole Slide Images</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2022 &amp; Sujatha Kotte, V. G. </a:t>
                      </a:r>
                      <a:r>
                        <a:rPr lang="en-IN" dirty="0" err="1">
                          <a:latin typeface="Times New Roman" panose="02020603050405020304" pitchFamily="18" charset="0"/>
                          <a:cs typeface="Times New Roman" panose="02020603050405020304" pitchFamily="18" charset="0"/>
                        </a:rPr>
                        <a:t>Saipradeep</a:t>
                      </a:r>
                      <a:r>
                        <a:rPr lang="en-IN" dirty="0">
                          <a:latin typeface="Times New Roman" panose="02020603050405020304" pitchFamily="18" charset="0"/>
                          <a:cs typeface="Times New Roman" panose="02020603050405020304" pitchFamily="18" charset="0"/>
                        </a:rPr>
                        <a:t>, Naveen Sivadasan, Thomas Joseph, Hrishikesh Sharma, Vidushi Walia, </a:t>
                      </a:r>
                      <a:r>
                        <a:rPr lang="en-IN" dirty="0" err="1">
                          <a:latin typeface="Times New Roman" panose="02020603050405020304" pitchFamily="18" charset="0"/>
                          <a:cs typeface="Times New Roman" panose="02020603050405020304" pitchFamily="18" charset="0"/>
                        </a:rPr>
                        <a:t>Binuja</a:t>
                      </a:r>
                      <a:r>
                        <a:rPr lang="en-IN" dirty="0">
                          <a:latin typeface="Times New Roman" panose="02020603050405020304" pitchFamily="18" charset="0"/>
                          <a:cs typeface="Times New Roman" panose="02020603050405020304" pitchFamily="18" charset="0"/>
                        </a:rPr>
                        <a:t> Varma, </a:t>
                      </a:r>
                      <a:r>
                        <a:rPr lang="en-IN" dirty="0" err="1">
                          <a:latin typeface="Times New Roman" panose="02020603050405020304" pitchFamily="18" charset="0"/>
                          <a:cs typeface="Times New Roman" panose="02020603050405020304" pitchFamily="18" charset="0"/>
                        </a:rPr>
                        <a:t>Geetashree</a:t>
                      </a:r>
                      <a:r>
                        <a:rPr lang="en-IN" dirty="0">
                          <a:latin typeface="Times New Roman" panose="02020603050405020304" pitchFamily="18" charset="0"/>
                          <a:cs typeface="Times New Roman" panose="02020603050405020304" pitchFamily="18" charset="0"/>
                        </a:rPr>
                        <a:t> Mukherjee</a:t>
                      </a:r>
                    </a:p>
                  </a:txBody>
                  <a:tcPr/>
                </a:tc>
                <a:tc>
                  <a:txBody>
                    <a:bodyPr/>
                    <a:lstStyle/>
                    <a:p>
                      <a:r>
                        <a:rPr lang="en-US" sz="1200" dirty="0">
                          <a:latin typeface="Times New Roman" panose="02020603050405020304" pitchFamily="18" charset="0"/>
                          <a:cs typeface="Times New Roman" panose="02020603050405020304" pitchFamily="18" charset="0"/>
                        </a:rPr>
                        <a:t>This paper proposes an ensemble mitosis-detection system that combines multiple deep learning models to improve robustness across different scanners and tissue types. Trained for the MIDOG 2022 challenge, the ensemble achieves strong cross-domain performance, demonstrating the effectiveness of multi-model fusion for generalized mitosis detection.</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08709506"/>
                  </a:ext>
                </a:extLst>
              </a:tr>
            </a:tbl>
          </a:graphicData>
        </a:graphic>
      </p:graphicFrame>
    </p:spTree>
    <p:extLst>
      <p:ext uri="{BB962C8B-B14F-4D97-AF65-F5344CB8AC3E}">
        <p14:creationId xmlns:p14="http://schemas.microsoft.com/office/powerpoint/2010/main" val="4229620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A11FF0-41A5-94F7-7111-9E9F662440FB}"/>
            </a:ext>
          </a:extLst>
        </p:cNvPr>
        <p:cNvGrpSpPr/>
        <p:nvPr/>
      </p:nvGrpSpPr>
      <p:grpSpPr>
        <a:xfrm>
          <a:off x="0" y="0"/>
          <a:ext cx="0" cy="0"/>
          <a:chOff x="0" y="0"/>
          <a:chExt cx="0" cy="0"/>
        </a:xfrm>
      </p:grpSpPr>
      <p:sp>
        <p:nvSpPr>
          <p:cNvPr id="1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C8A400-892C-9BBF-B12D-42FD983BCEFB}"/>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Tisa Offc Serif Pro" panose="02010504030101020102" pitchFamily="2" charset="0"/>
              </a:rPr>
              <a:t>Flowchart</a:t>
            </a:r>
          </a:p>
        </p:txBody>
      </p:sp>
      <p:pic>
        <p:nvPicPr>
          <p:cNvPr id="6" name="Content Placeholder 5" descr="A diagram of a computer flowchart&#10;&#10;AI-generated content may be incorrect.">
            <a:extLst>
              <a:ext uri="{FF2B5EF4-FFF2-40B4-BE49-F238E27FC236}">
                <a16:creationId xmlns:a16="http://schemas.microsoft.com/office/drawing/2014/main" id="{46B5A06F-C082-15A3-262A-ADFA60FE32B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6607277" y="449532"/>
            <a:ext cx="3113544" cy="5958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2837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E41DC1-947C-AAAC-EF65-46A48F01D853}"/>
            </a:ext>
          </a:extLst>
        </p:cNvPr>
        <p:cNvGrpSpPr/>
        <p:nvPr/>
      </p:nvGrpSpPr>
      <p:grpSpPr>
        <a:xfrm>
          <a:off x="0" y="0"/>
          <a:ext cx="0" cy="0"/>
          <a:chOff x="0" y="0"/>
          <a:chExt cx="0" cy="0"/>
        </a:xfrm>
      </p:grpSpPr>
      <p:sp useBgFill="1">
        <p:nvSpPr>
          <p:cNvPr id="4129" name="Rectangle 412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C43573-1388-B445-8F93-37D722D2FB4A}"/>
              </a:ext>
            </a:extLst>
          </p:cNvPr>
          <p:cNvSpPr>
            <a:spLocks noGrp="1"/>
          </p:cNvSpPr>
          <p:nvPr>
            <p:ph type="title"/>
          </p:nvPr>
        </p:nvSpPr>
        <p:spPr>
          <a:xfrm>
            <a:off x="630936" y="639520"/>
            <a:ext cx="3429000" cy="1719072"/>
          </a:xfrm>
        </p:spPr>
        <p:txBody>
          <a:bodyPr anchor="b">
            <a:normAutofit/>
          </a:bodyPr>
          <a:lstStyle/>
          <a:p>
            <a:r>
              <a:rPr lang="en-IN" sz="4200">
                <a:latin typeface="Tisa Offc Serif Pro" panose="02010504030101020102" pitchFamily="2" charset="0"/>
              </a:rPr>
              <a:t>Model Architecture</a:t>
            </a:r>
          </a:p>
        </p:txBody>
      </p:sp>
      <p:sp>
        <p:nvSpPr>
          <p:cNvPr id="4131"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42A884-13E1-7C43-2298-8BF3156394A3}"/>
              </a:ext>
            </a:extLst>
          </p:cNvPr>
          <p:cNvSpPr>
            <a:spLocks noGrp="1"/>
          </p:cNvSpPr>
          <p:nvPr>
            <p:ph idx="1"/>
          </p:nvPr>
        </p:nvSpPr>
        <p:spPr>
          <a:xfrm>
            <a:off x="630936" y="2807208"/>
            <a:ext cx="3429000" cy="3410712"/>
          </a:xfrm>
        </p:spPr>
        <p:txBody>
          <a:bodyPr anchor="t">
            <a:normAutofit/>
          </a:bodyPr>
          <a:lstStyle/>
          <a:p>
            <a:r>
              <a:rPr lang="en-IN" sz="2200">
                <a:latin typeface="Times New Roman" panose="02020603050405020304" pitchFamily="18" charset="0"/>
                <a:cs typeface="Times New Roman" panose="02020603050405020304" pitchFamily="18" charset="0"/>
              </a:rPr>
              <a:t>DenseNet – 121 Backbone</a:t>
            </a:r>
          </a:p>
          <a:p>
            <a:pPr marL="0" indent="0">
              <a:buNone/>
            </a:pPr>
            <a:endParaRPr lang="en-IN" sz="2200"/>
          </a:p>
        </p:txBody>
      </p:sp>
      <p:pic>
        <p:nvPicPr>
          <p:cNvPr id="5" name="Picture 4" descr="A diagram of a data flow&#10;&#10;AI-generated content may be incorrect.">
            <a:extLst>
              <a:ext uri="{FF2B5EF4-FFF2-40B4-BE49-F238E27FC236}">
                <a16:creationId xmlns:a16="http://schemas.microsoft.com/office/drawing/2014/main" id="{099CB8FF-3449-6CCA-EFE7-208142CE25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2741" y="1038497"/>
            <a:ext cx="7936097" cy="4741817"/>
          </a:xfrm>
          <a:prstGeom prst="rect">
            <a:avLst/>
          </a:prstGeom>
        </p:spPr>
      </p:pic>
    </p:spTree>
    <p:extLst>
      <p:ext uri="{BB962C8B-B14F-4D97-AF65-F5344CB8AC3E}">
        <p14:creationId xmlns:p14="http://schemas.microsoft.com/office/powerpoint/2010/main" val="2022865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2" name="Rectangle 5131">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134" name="Freeform: Shape 5133">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131" name="Freeform: Shape 5130">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AB9567F-7AF9-C24B-C1DF-3CADE5DE177B}"/>
              </a:ext>
            </a:extLst>
          </p:cNvPr>
          <p:cNvSpPr>
            <a:spLocks noGrp="1"/>
          </p:cNvSpPr>
          <p:nvPr>
            <p:ph type="title"/>
          </p:nvPr>
        </p:nvSpPr>
        <p:spPr>
          <a:xfrm>
            <a:off x="371094" y="1161288"/>
            <a:ext cx="3438144" cy="1239012"/>
          </a:xfrm>
        </p:spPr>
        <p:txBody>
          <a:bodyPr anchor="ctr">
            <a:normAutofit/>
          </a:bodyPr>
          <a:lstStyle/>
          <a:p>
            <a:r>
              <a:rPr lang="en-IN" sz="2800" dirty="0">
                <a:latin typeface="Tisa Offc Serif Pro" panose="02010504030101020102" pitchFamily="2" charset="0"/>
              </a:rPr>
              <a:t>Model Architecture</a:t>
            </a:r>
          </a:p>
        </p:txBody>
      </p:sp>
      <p:sp>
        <p:nvSpPr>
          <p:cNvPr id="5133" name="Rectangle 5132">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135" name="Rectangle 513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AD56752-B311-DB85-9171-3BFBB10F970F}"/>
              </a:ext>
            </a:extLst>
          </p:cNvPr>
          <p:cNvSpPr>
            <a:spLocks noGrp="1"/>
          </p:cNvSpPr>
          <p:nvPr>
            <p:ph idx="1"/>
          </p:nvPr>
        </p:nvSpPr>
        <p:spPr>
          <a:xfrm>
            <a:off x="371094" y="2718054"/>
            <a:ext cx="3438906" cy="3207258"/>
          </a:xfrm>
        </p:spPr>
        <p:txBody>
          <a:bodyPr anchor="t">
            <a:normAutofit/>
          </a:bodyPr>
          <a:lstStyle/>
          <a:p>
            <a:pPr marL="0" indent="0">
              <a:buNone/>
            </a:pPr>
            <a:r>
              <a:rPr lang="en-IN" sz="1700" dirty="0">
                <a:latin typeface="Times New Roman" panose="02020603050405020304" pitchFamily="18" charset="0"/>
                <a:cs typeface="Times New Roman" panose="02020603050405020304" pitchFamily="18" charset="0"/>
              </a:rPr>
              <a:t>SE (Squeeze-and-Excitation) Attention </a:t>
            </a:r>
          </a:p>
          <a:p>
            <a:pPr marL="0" indent="0">
              <a:buNone/>
            </a:pPr>
            <a:endParaRPr lang="en-IN" sz="1700" dirty="0"/>
          </a:p>
        </p:txBody>
      </p:sp>
      <p:pic>
        <p:nvPicPr>
          <p:cNvPr id="5" name="Picture 4" descr="A diagram of a system&#10;&#10;AI-generated content may be incorrect.">
            <a:extLst>
              <a:ext uri="{FF2B5EF4-FFF2-40B4-BE49-F238E27FC236}">
                <a16:creationId xmlns:a16="http://schemas.microsoft.com/office/drawing/2014/main" id="{26AA67E4-FA6C-B8AA-7582-6652F6C2E8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0612" y="2461768"/>
            <a:ext cx="7406447" cy="2614040"/>
          </a:xfrm>
          <a:prstGeom prst="rect">
            <a:avLst/>
          </a:prstGeom>
        </p:spPr>
      </p:pic>
    </p:spTree>
    <p:extLst>
      <p:ext uri="{BB962C8B-B14F-4D97-AF65-F5344CB8AC3E}">
        <p14:creationId xmlns:p14="http://schemas.microsoft.com/office/powerpoint/2010/main" val="972649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3" name="Rectangle 6152">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155" name="Freeform: Shape 6154">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157" name="Freeform: Shape 6156">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3EB2700-1B46-70EC-02A6-C8CAA7BEA38A}"/>
              </a:ext>
            </a:extLst>
          </p:cNvPr>
          <p:cNvSpPr>
            <a:spLocks noGrp="1"/>
          </p:cNvSpPr>
          <p:nvPr>
            <p:ph type="title"/>
          </p:nvPr>
        </p:nvSpPr>
        <p:spPr>
          <a:xfrm>
            <a:off x="371094" y="1161288"/>
            <a:ext cx="3438144" cy="1239012"/>
          </a:xfrm>
        </p:spPr>
        <p:txBody>
          <a:bodyPr anchor="ctr">
            <a:normAutofit/>
          </a:bodyPr>
          <a:lstStyle/>
          <a:p>
            <a:r>
              <a:rPr lang="en-IN" sz="2800" dirty="0">
                <a:latin typeface="Tisa Offc Serif Pro" panose="02010504030101020102" pitchFamily="2" charset="0"/>
              </a:rPr>
              <a:t>Model Architecture </a:t>
            </a:r>
          </a:p>
        </p:txBody>
      </p:sp>
      <p:sp>
        <p:nvSpPr>
          <p:cNvPr id="6159" name="Rectangle 6158">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161" name="Rectangle 6160">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Content Placeholder 3">
            <a:extLst>
              <a:ext uri="{FF2B5EF4-FFF2-40B4-BE49-F238E27FC236}">
                <a16:creationId xmlns:a16="http://schemas.microsoft.com/office/drawing/2014/main" id="{66E79F03-B32A-B842-2A66-D1E318F84830}"/>
              </a:ext>
            </a:extLst>
          </p:cNvPr>
          <p:cNvSpPr>
            <a:spLocks noGrp="1"/>
          </p:cNvSpPr>
          <p:nvPr>
            <p:ph idx="1"/>
          </p:nvPr>
        </p:nvSpPr>
        <p:spPr>
          <a:xfrm>
            <a:off x="371094" y="2718054"/>
            <a:ext cx="3438906" cy="3207258"/>
          </a:xfrm>
        </p:spPr>
        <p:txBody>
          <a:bodyPr anchor="t">
            <a:normAutofit/>
          </a:bodyPr>
          <a:lstStyle/>
          <a:p>
            <a:r>
              <a:rPr lang="en-IN" sz="1700" dirty="0">
                <a:latin typeface="Times New Roman" panose="02020603050405020304" pitchFamily="18" charset="0"/>
                <a:cs typeface="Times New Roman" panose="02020603050405020304" pitchFamily="18" charset="0"/>
              </a:rPr>
              <a:t>Global Average Pooling Layer</a:t>
            </a:r>
          </a:p>
          <a:p>
            <a:pPr marL="0" indent="0">
              <a:buNone/>
            </a:pPr>
            <a:endParaRPr lang="en-IN" sz="1700" dirty="0"/>
          </a:p>
        </p:txBody>
      </p:sp>
      <p:pic>
        <p:nvPicPr>
          <p:cNvPr id="6148" name="Picture 4" descr="Frontiers | GAPCNN with HyPar: Global Average Pooling convolutional neural  network with novel NNLU activation function and HYBRID parallelism">
            <a:extLst>
              <a:ext uri="{FF2B5EF4-FFF2-40B4-BE49-F238E27FC236}">
                <a16:creationId xmlns:a16="http://schemas.microsoft.com/office/drawing/2014/main" id="{05BA92FF-73F4-99A1-3BB9-BD565B90F37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294695" y="841248"/>
            <a:ext cx="6134986" cy="527608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10A96EEC-A60D-2ACE-C861-36720DC92F30}"/>
              </a:ext>
            </a:extLst>
          </p:cNvPr>
          <p:cNvPicPr>
            <a:picLocks noChangeAspect="1"/>
          </p:cNvPicPr>
          <p:nvPr/>
        </p:nvPicPr>
        <p:blipFill>
          <a:blip r:embed="rId4"/>
          <a:stretch>
            <a:fillRect/>
          </a:stretch>
        </p:blipFill>
        <p:spPr>
          <a:xfrm>
            <a:off x="9759739" y="3037115"/>
            <a:ext cx="834179" cy="1019672"/>
          </a:xfrm>
          <a:prstGeom prst="rect">
            <a:avLst/>
          </a:prstGeom>
        </p:spPr>
      </p:pic>
      <p:pic>
        <p:nvPicPr>
          <p:cNvPr id="10" name="Picture 9">
            <a:extLst>
              <a:ext uri="{FF2B5EF4-FFF2-40B4-BE49-F238E27FC236}">
                <a16:creationId xmlns:a16="http://schemas.microsoft.com/office/drawing/2014/main" id="{E2628650-3DE6-A35D-C9E4-FBB6F595E681}"/>
              </a:ext>
            </a:extLst>
          </p:cNvPr>
          <p:cNvPicPr>
            <a:picLocks noChangeAspect="1"/>
          </p:cNvPicPr>
          <p:nvPr/>
        </p:nvPicPr>
        <p:blipFill>
          <a:blip r:embed="rId5"/>
          <a:stretch>
            <a:fillRect/>
          </a:stretch>
        </p:blipFill>
        <p:spPr>
          <a:xfrm>
            <a:off x="9759145" y="4075360"/>
            <a:ext cx="867308" cy="1019672"/>
          </a:xfrm>
          <a:prstGeom prst="rect">
            <a:avLst/>
          </a:prstGeom>
        </p:spPr>
      </p:pic>
      <p:pic>
        <p:nvPicPr>
          <p:cNvPr id="12" name="Picture 11">
            <a:extLst>
              <a:ext uri="{FF2B5EF4-FFF2-40B4-BE49-F238E27FC236}">
                <a16:creationId xmlns:a16="http://schemas.microsoft.com/office/drawing/2014/main" id="{F72AF702-A10A-F40A-B62F-7155716B8C1D}"/>
              </a:ext>
            </a:extLst>
          </p:cNvPr>
          <p:cNvPicPr>
            <a:picLocks noChangeAspect="1"/>
          </p:cNvPicPr>
          <p:nvPr/>
        </p:nvPicPr>
        <p:blipFill>
          <a:blip r:embed="rId6"/>
          <a:stretch>
            <a:fillRect/>
          </a:stretch>
        </p:blipFill>
        <p:spPr>
          <a:xfrm>
            <a:off x="9759145" y="5095032"/>
            <a:ext cx="868933" cy="1031591"/>
          </a:xfrm>
          <a:prstGeom prst="rect">
            <a:avLst/>
          </a:prstGeom>
        </p:spPr>
      </p:pic>
    </p:spTree>
    <p:extLst>
      <p:ext uri="{BB962C8B-B14F-4D97-AF65-F5344CB8AC3E}">
        <p14:creationId xmlns:p14="http://schemas.microsoft.com/office/powerpoint/2010/main" val="3600152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A0508-D026-C8D4-9887-D40A25CD3922}"/>
              </a:ext>
            </a:extLst>
          </p:cNvPr>
          <p:cNvSpPr>
            <a:spLocks noGrp="1"/>
          </p:cNvSpPr>
          <p:nvPr>
            <p:ph type="title"/>
          </p:nvPr>
        </p:nvSpPr>
        <p:spPr/>
        <p:txBody>
          <a:bodyPr/>
          <a:lstStyle/>
          <a:p>
            <a:r>
              <a:rPr lang="en-IN">
                <a:latin typeface="Tisa Offc Serif Pro" panose="02010504030101020102" pitchFamily="2" charset="0"/>
              </a:rPr>
              <a:t>Baseline Model Results</a:t>
            </a:r>
            <a:endParaRPr lang="en-IN" dirty="0">
              <a:latin typeface="Tisa Offc Serif Pro" panose="02010504030101020102" pitchFamily="2" charset="0"/>
            </a:endParaRPr>
          </a:p>
        </p:txBody>
      </p:sp>
      <p:pic>
        <p:nvPicPr>
          <p:cNvPr id="5" name="Content Placeholder 4">
            <a:extLst>
              <a:ext uri="{FF2B5EF4-FFF2-40B4-BE49-F238E27FC236}">
                <a16:creationId xmlns:a16="http://schemas.microsoft.com/office/drawing/2014/main" id="{E364756D-B249-A0E5-A2FF-5C373AEBE96A}"/>
              </a:ext>
            </a:extLst>
          </p:cNvPr>
          <p:cNvPicPr>
            <a:picLocks noGrp="1" noChangeAspect="1"/>
          </p:cNvPicPr>
          <p:nvPr>
            <p:ph idx="1"/>
          </p:nvPr>
        </p:nvPicPr>
        <p:blipFill>
          <a:blip r:embed="rId2"/>
          <a:stretch>
            <a:fillRect/>
          </a:stretch>
        </p:blipFill>
        <p:spPr>
          <a:xfrm>
            <a:off x="987825" y="2097133"/>
            <a:ext cx="10216349" cy="3182438"/>
          </a:xfrm>
          <a:prstGeom prst="rect">
            <a:avLst/>
          </a:prstGeom>
        </p:spPr>
      </p:pic>
    </p:spTree>
    <p:extLst>
      <p:ext uri="{BB962C8B-B14F-4D97-AF65-F5344CB8AC3E}">
        <p14:creationId xmlns:p14="http://schemas.microsoft.com/office/powerpoint/2010/main" val="3014584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84286-9A3F-FF31-A399-EFBF7E32828B}"/>
              </a:ext>
            </a:extLst>
          </p:cNvPr>
          <p:cNvSpPr>
            <a:spLocks noGrp="1"/>
          </p:cNvSpPr>
          <p:nvPr>
            <p:ph type="title"/>
          </p:nvPr>
        </p:nvSpPr>
        <p:spPr/>
        <p:txBody>
          <a:bodyPr/>
          <a:lstStyle/>
          <a:p>
            <a:r>
              <a:rPr lang="en-IN" dirty="0">
                <a:latin typeface="Tisa Offc Serif Pro" panose="02010504030101020102" pitchFamily="2" charset="0"/>
              </a:rPr>
              <a:t>Convolutional Attention</a:t>
            </a:r>
          </a:p>
        </p:txBody>
      </p:sp>
      <p:pic>
        <p:nvPicPr>
          <p:cNvPr id="5" name="Content Placeholder 4">
            <a:extLst>
              <a:ext uri="{FF2B5EF4-FFF2-40B4-BE49-F238E27FC236}">
                <a16:creationId xmlns:a16="http://schemas.microsoft.com/office/drawing/2014/main" id="{67F2D7AD-DE2C-640B-F443-F72549B3BB76}"/>
              </a:ext>
            </a:extLst>
          </p:cNvPr>
          <p:cNvPicPr>
            <a:picLocks noGrp="1" noChangeAspect="1"/>
          </p:cNvPicPr>
          <p:nvPr>
            <p:ph idx="1"/>
          </p:nvPr>
        </p:nvPicPr>
        <p:blipFill>
          <a:blip r:embed="rId2"/>
          <a:stretch>
            <a:fillRect/>
          </a:stretch>
        </p:blipFill>
        <p:spPr>
          <a:xfrm>
            <a:off x="1716957" y="1690688"/>
            <a:ext cx="8924438" cy="3824759"/>
          </a:xfrm>
          <a:prstGeom prst="rect">
            <a:avLst/>
          </a:prstGeom>
        </p:spPr>
      </p:pic>
    </p:spTree>
    <p:extLst>
      <p:ext uri="{BB962C8B-B14F-4D97-AF65-F5344CB8AC3E}">
        <p14:creationId xmlns:p14="http://schemas.microsoft.com/office/powerpoint/2010/main" val="2227909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EFBA1-4738-65F4-15EC-2EC5036C7BFF}"/>
              </a:ext>
            </a:extLst>
          </p:cNvPr>
          <p:cNvSpPr>
            <a:spLocks noGrp="1"/>
          </p:cNvSpPr>
          <p:nvPr>
            <p:ph type="title"/>
          </p:nvPr>
        </p:nvSpPr>
        <p:spPr/>
        <p:txBody>
          <a:bodyPr/>
          <a:lstStyle/>
          <a:p>
            <a:r>
              <a:rPr lang="en-IN">
                <a:latin typeface="Tisa Offc Serif Pro" panose="02010504030101020102" pitchFamily="2" charset="0"/>
              </a:rPr>
              <a:t>Best Position for Attention</a:t>
            </a:r>
            <a:endParaRPr lang="en-IN" dirty="0">
              <a:latin typeface="Tisa Offc Serif Pro" panose="02010504030101020102" pitchFamily="2" charset="0"/>
            </a:endParaRPr>
          </a:p>
        </p:txBody>
      </p:sp>
      <p:pic>
        <p:nvPicPr>
          <p:cNvPr id="7" name="Content Placeholder 6">
            <a:extLst>
              <a:ext uri="{FF2B5EF4-FFF2-40B4-BE49-F238E27FC236}">
                <a16:creationId xmlns:a16="http://schemas.microsoft.com/office/drawing/2014/main" id="{6A88408F-6D7A-C50F-9D5A-D654C6EBF4CB}"/>
              </a:ext>
            </a:extLst>
          </p:cNvPr>
          <p:cNvPicPr>
            <a:picLocks noGrp="1" noChangeAspect="1"/>
          </p:cNvPicPr>
          <p:nvPr>
            <p:ph idx="1"/>
          </p:nvPr>
        </p:nvPicPr>
        <p:blipFill>
          <a:blip r:embed="rId3"/>
          <a:stretch>
            <a:fillRect/>
          </a:stretch>
        </p:blipFill>
        <p:spPr>
          <a:xfrm>
            <a:off x="2086902" y="1690688"/>
            <a:ext cx="8189212" cy="4358368"/>
          </a:xfrm>
          <a:prstGeom prst="rect">
            <a:avLst/>
          </a:prstGeom>
        </p:spPr>
      </p:pic>
    </p:spTree>
    <p:extLst>
      <p:ext uri="{BB962C8B-B14F-4D97-AF65-F5344CB8AC3E}">
        <p14:creationId xmlns:p14="http://schemas.microsoft.com/office/powerpoint/2010/main" val="2710656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91A2C-B9F4-3807-4504-2A5AF45159FD}"/>
              </a:ext>
            </a:extLst>
          </p:cNvPr>
          <p:cNvSpPr>
            <a:spLocks noGrp="1"/>
          </p:cNvSpPr>
          <p:nvPr>
            <p:ph type="title"/>
          </p:nvPr>
        </p:nvSpPr>
        <p:spPr/>
        <p:txBody>
          <a:bodyPr>
            <a:normAutofit/>
          </a:bodyPr>
          <a:lstStyle/>
          <a:p>
            <a:pPr algn="ctr"/>
            <a:r>
              <a:rPr lang="en-IN" sz="3200" dirty="0">
                <a:latin typeface="Tisa Offc Serif Pro" panose="02010504030101020102" pitchFamily="2" charset="0"/>
              </a:rPr>
              <a:t>Model Hyperparameters and Training Configurations</a:t>
            </a:r>
          </a:p>
        </p:txBody>
      </p:sp>
      <p:pic>
        <p:nvPicPr>
          <p:cNvPr id="5" name="Content Placeholder 4">
            <a:extLst>
              <a:ext uri="{FF2B5EF4-FFF2-40B4-BE49-F238E27FC236}">
                <a16:creationId xmlns:a16="http://schemas.microsoft.com/office/drawing/2014/main" id="{32AD71DD-5427-7ED2-AC74-E966880B9DD9}"/>
              </a:ext>
            </a:extLst>
          </p:cNvPr>
          <p:cNvPicPr>
            <a:picLocks noGrp="1" noChangeAspect="1"/>
          </p:cNvPicPr>
          <p:nvPr>
            <p:ph idx="1"/>
          </p:nvPr>
        </p:nvPicPr>
        <p:blipFill>
          <a:blip r:embed="rId2"/>
          <a:srcRect t="2714"/>
          <a:stretch>
            <a:fillRect/>
          </a:stretch>
        </p:blipFill>
        <p:spPr>
          <a:xfrm>
            <a:off x="1088995" y="1995948"/>
            <a:ext cx="9555997" cy="2706994"/>
          </a:xfrm>
          <a:prstGeom prst="rect">
            <a:avLst/>
          </a:prstGeom>
        </p:spPr>
      </p:pic>
    </p:spTree>
    <p:extLst>
      <p:ext uri="{BB962C8B-B14F-4D97-AF65-F5344CB8AC3E}">
        <p14:creationId xmlns:p14="http://schemas.microsoft.com/office/powerpoint/2010/main" val="549370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09574-D8F9-F704-879F-C52B61DBFD98}"/>
              </a:ext>
            </a:extLst>
          </p:cNvPr>
          <p:cNvSpPr>
            <a:spLocks noGrp="1"/>
          </p:cNvSpPr>
          <p:nvPr>
            <p:ph type="title"/>
          </p:nvPr>
        </p:nvSpPr>
        <p:spPr/>
        <p:txBody>
          <a:bodyPr/>
          <a:lstStyle/>
          <a:p>
            <a:r>
              <a:rPr lang="en-IN" dirty="0">
                <a:latin typeface="Tisa Offc Serif Pro" panose="02010504030101020102" pitchFamily="2" charset="0"/>
              </a:rPr>
              <a:t>Results</a:t>
            </a:r>
          </a:p>
        </p:txBody>
      </p:sp>
      <p:sp>
        <p:nvSpPr>
          <p:cNvPr id="3" name="Content Placeholder 2">
            <a:extLst>
              <a:ext uri="{FF2B5EF4-FFF2-40B4-BE49-F238E27FC236}">
                <a16:creationId xmlns:a16="http://schemas.microsoft.com/office/drawing/2014/main" id="{16099991-FFEA-A795-D930-48FE0962D5DD}"/>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Model loss/ accuracy plots</a:t>
            </a:r>
          </a:p>
          <a:p>
            <a:pPr marL="0" indent="0">
              <a:buNone/>
            </a:pPr>
            <a:endParaRPr lang="en-IN" dirty="0"/>
          </a:p>
        </p:txBody>
      </p:sp>
      <p:pic>
        <p:nvPicPr>
          <p:cNvPr id="5" name="Picture 4">
            <a:extLst>
              <a:ext uri="{FF2B5EF4-FFF2-40B4-BE49-F238E27FC236}">
                <a16:creationId xmlns:a16="http://schemas.microsoft.com/office/drawing/2014/main" id="{EF64308A-1590-E350-7D12-5B3B885ACB25}"/>
              </a:ext>
            </a:extLst>
          </p:cNvPr>
          <p:cNvPicPr>
            <a:picLocks noChangeAspect="1"/>
          </p:cNvPicPr>
          <p:nvPr/>
        </p:nvPicPr>
        <p:blipFill>
          <a:blip r:embed="rId2"/>
          <a:stretch>
            <a:fillRect/>
          </a:stretch>
        </p:blipFill>
        <p:spPr>
          <a:xfrm>
            <a:off x="1398653" y="2635044"/>
            <a:ext cx="8787565" cy="2891811"/>
          </a:xfrm>
          <a:prstGeom prst="rect">
            <a:avLst/>
          </a:prstGeom>
        </p:spPr>
      </p:pic>
    </p:spTree>
    <p:extLst>
      <p:ext uri="{BB962C8B-B14F-4D97-AF65-F5344CB8AC3E}">
        <p14:creationId xmlns:p14="http://schemas.microsoft.com/office/powerpoint/2010/main" val="3463144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6EB562E-A5F7-4D7F-9E9D-6DEA10BF2CD9}"/>
              </a:ext>
            </a:extLst>
          </p:cNvPr>
          <p:cNvSpPr>
            <a:spLocks noGrp="1"/>
          </p:cNvSpPr>
          <p:nvPr>
            <p:ph type="title"/>
          </p:nvPr>
        </p:nvSpPr>
        <p:spPr>
          <a:xfrm>
            <a:off x="371094" y="1161288"/>
            <a:ext cx="3438144" cy="1239012"/>
          </a:xfrm>
        </p:spPr>
        <p:txBody>
          <a:bodyPr anchor="ctr">
            <a:normAutofit/>
          </a:bodyPr>
          <a:lstStyle/>
          <a:p>
            <a:r>
              <a:rPr lang="en-IN" sz="2800" dirty="0">
                <a:latin typeface="Tisa Offc Serif Pro" panose="02010504030101020102" pitchFamily="2" charset="0"/>
              </a:rPr>
              <a:t>Results</a:t>
            </a:r>
          </a:p>
        </p:txBody>
      </p:sp>
      <p:sp>
        <p:nvSpPr>
          <p:cNvPr id="18" name="Rectangle 17">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142E765-85E1-BAFA-800E-8A4F513EC7C1}"/>
              </a:ext>
            </a:extLst>
          </p:cNvPr>
          <p:cNvSpPr>
            <a:spLocks noGrp="1"/>
          </p:cNvSpPr>
          <p:nvPr>
            <p:ph idx="1"/>
          </p:nvPr>
        </p:nvSpPr>
        <p:spPr>
          <a:xfrm>
            <a:off x="371094" y="2718054"/>
            <a:ext cx="3438906" cy="3207258"/>
          </a:xfrm>
        </p:spPr>
        <p:txBody>
          <a:bodyPr anchor="t">
            <a:normAutofit/>
          </a:bodyPr>
          <a:lstStyle/>
          <a:p>
            <a:r>
              <a:rPr lang="en-IN" sz="1700" dirty="0">
                <a:latin typeface="Times New Roman" panose="02020603050405020304" pitchFamily="18" charset="0"/>
                <a:cs typeface="Times New Roman" panose="02020603050405020304" pitchFamily="18" charset="0"/>
              </a:rPr>
              <a:t>Some Model Predictions</a:t>
            </a:r>
          </a:p>
          <a:p>
            <a:pPr marL="0" indent="0">
              <a:buNone/>
            </a:pPr>
            <a:endParaRPr lang="en-IN" sz="1700" dirty="0"/>
          </a:p>
        </p:txBody>
      </p:sp>
      <p:pic>
        <p:nvPicPr>
          <p:cNvPr id="7" name="Picture 6" descr="A collage of different cells&#10;&#10;AI-generated content may be incorrect.">
            <a:extLst>
              <a:ext uri="{FF2B5EF4-FFF2-40B4-BE49-F238E27FC236}">
                <a16:creationId xmlns:a16="http://schemas.microsoft.com/office/drawing/2014/main" id="{953F23C3-0D5A-FB15-9C8D-42B5E91560BF}"/>
              </a:ext>
            </a:extLst>
          </p:cNvPr>
          <p:cNvPicPr>
            <a:picLocks noChangeAspect="1"/>
          </p:cNvPicPr>
          <p:nvPr/>
        </p:nvPicPr>
        <p:blipFill>
          <a:blip r:embed="rId2"/>
          <a:stretch>
            <a:fillRect/>
          </a:stretch>
        </p:blipFill>
        <p:spPr>
          <a:xfrm>
            <a:off x="4958260" y="841248"/>
            <a:ext cx="6807855" cy="5276088"/>
          </a:xfrm>
          <a:prstGeom prst="rect">
            <a:avLst/>
          </a:prstGeom>
        </p:spPr>
      </p:pic>
    </p:spTree>
    <p:extLst>
      <p:ext uri="{BB962C8B-B14F-4D97-AF65-F5344CB8AC3E}">
        <p14:creationId xmlns:p14="http://schemas.microsoft.com/office/powerpoint/2010/main" val="1127716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14FFCB-BE91-1CE7-B82A-945FF1F3634D}"/>
              </a:ext>
            </a:extLst>
          </p:cNvPr>
          <p:cNvSpPr>
            <a:spLocks noGrp="1"/>
          </p:cNvSpPr>
          <p:nvPr>
            <p:ph type="title"/>
          </p:nvPr>
        </p:nvSpPr>
        <p:spPr>
          <a:xfrm>
            <a:off x="411480" y="991443"/>
            <a:ext cx="4443154" cy="1087819"/>
          </a:xfrm>
        </p:spPr>
        <p:txBody>
          <a:bodyPr anchor="b">
            <a:normAutofit/>
          </a:bodyPr>
          <a:lstStyle/>
          <a:p>
            <a:r>
              <a:rPr lang="en-IN" sz="3400">
                <a:latin typeface="Tisa Offc Serif Pro" panose="02010504030101020102" pitchFamily="2" charset="0"/>
              </a:rPr>
              <a:t>Results</a:t>
            </a:r>
          </a:p>
        </p:txBody>
      </p:sp>
      <p:sp>
        <p:nvSpPr>
          <p:cNvPr id="21" name="Rectangle 20">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 name="Content Placeholder 8">
            <a:extLst>
              <a:ext uri="{FF2B5EF4-FFF2-40B4-BE49-F238E27FC236}">
                <a16:creationId xmlns:a16="http://schemas.microsoft.com/office/drawing/2014/main" id="{39139572-2356-AEC7-94F6-9EFEF27230BA}"/>
              </a:ext>
            </a:extLst>
          </p:cNvPr>
          <p:cNvSpPr>
            <a:spLocks noGrp="1"/>
          </p:cNvSpPr>
          <p:nvPr>
            <p:ph idx="1"/>
          </p:nvPr>
        </p:nvSpPr>
        <p:spPr>
          <a:xfrm>
            <a:off x="411480" y="2684095"/>
            <a:ext cx="4443154" cy="3492868"/>
          </a:xfrm>
        </p:spPr>
        <p:txBody>
          <a:bodyPr>
            <a:normAutofit/>
          </a:bodyPr>
          <a:lstStyle/>
          <a:p>
            <a:pPr marL="0" indent="0">
              <a:buNone/>
            </a:pPr>
            <a:r>
              <a:rPr lang="en-IN" sz="1800">
                <a:latin typeface="Times New Roman" panose="02020603050405020304" pitchFamily="18" charset="0"/>
                <a:cs typeface="Times New Roman" panose="02020603050405020304" pitchFamily="18" charset="0"/>
              </a:rPr>
              <a:t>Confusion Matrix</a:t>
            </a:r>
          </a:p>
          <a:p>
            <a:pPr marL="0" indent="0">
              <a:buNone/>
            </a:pPr>
            <a:endParaRPr lang="en-IN" sz="1800">
              <a:latin typeface="Times New Roman" panose="02020603050405020304" pitchFamily="18" charset="0"/>
              <a:cs typeface="Times New Roman" panose="02020603050405020304" pitchFamily="18" charset="0"/>
            </a:endParaRPr>
          </a:p>
        </p:txBody>
      </p:sp>
      <p:pic>
        <p:nvPicPr>
          <p:cNvPr id="6" name="Picture 5" descr="A graph showing the difference between a certain number and a certain number&#10;&#10;AI-generated content may be incorrect.">
            <a:extLst>
              <a:ext uri="{FF2B5EF4-FFF2-40B4-BE49-F238E27FC236}">
                <a16:creationId xmlns:a16="http://schemas.microsoft.com/office/drawing/2014/main" id="{2FD4BD31-61A2-B63E-9E93-19A2033EEF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8013" y="403613"/>
            <a:ext cx="7004642" cy="5866557"/>
          </a:xfrm>
          <a:prstGeom prst="rect">
            <a:avLst/>
          </a:prstGeom>
        </p:spPr>
      </p:pic>
    </p:spTree>
    <p:extLst>
      <p:ext uri="{BB962C8B-B14F-4D97-AF65-F5344CB8AC3E}">
        <p14:creationId xmlns:p14="http://schemas.microsoft.com/office/powerpoint/2010/main" val="2542131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D79D-DD68-D289-1899-CACD97CD47D0}"/>
              </a:ext>
            </a:extLst>
          </p:cNvPr>
          <p:cNvSpPr>
            <a:spLocks noGrp="1"/>
          </p:cNvSpPr>
          <p:nvPr>
            <p:ph type="title"/>
          </p:nvPr>
        </p:nvSpPr>
        <p:spPr/>
        <p:txBody>
          <a:bodyPr/>
          <a:lstStyle/>
          <a:p>
            <a:r>
              <a:rPr lang="en-IN" dirty="0">
                <a:latin typeface="Tisa Offc Serif Pro" panose="02010504030101020102" pitchFamily="2" charset="0"/>
              </a:rPr>
              <a:t>Results</a:t>
            </a:r>
          </a:p>
        </p:txBody>
      </p:sp>
      <p:sp>
        <p:nvSpPr>
          <p:cNvPr id="3" name="Content Placeholder 2">
            <a:extLst>
              <a:ext uri="{FF2B5EF4-FFF2-40B4-BE49-F238E27FC236}">
                <a16:creationId xmlns:a16="http://schemas.microsoft.com/office/drawing/2014/main" id="{76D8FB57-6622-F74D-6429-AA7CE049D2E6}"/>
              </a:ext>
            </a:extLst>
          </p:cNvPr>
          <p:cNvSpPr>
            <a:spLocks noGrp="1"/>
          </p:cNvSpPr>
          <p:nvPr>
            <p:ph idx="1"/>
          </p:nvPr>
        </p:nvSpPr>
        <p:spPr/>
        <p:txBody>
          <a:bodyPr>
            <a:normAutofit/>
          </a:bodyPr>
          <a:lstStyle/>
          <a:p>
            <a:pPr marL="0" indent="0">
              <a:buNone/>
            </a:pPr>
            <a:r>
              <a:rPr lang="en-IN" sz="2000" dirty="0">
                <a:latin typeface="Times New Roman" panose="02020603050405020304" pitchFamily="18" charset="0"/>
                <a:cs typeface="Times New Roman" panose="02020603050405020304" pitchFamily="18" charset="0"/>
              </a:rPr>
              <a:t>DenseNet-121 Predictions from Validation set with confidence scores</a:t>
            </a:r>
          </a:p>
          <a:p>
            <a:pPr marL="0" indent="0">
              <a:buNone/>
            </a:pP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8647BC5-3F8C-50AA-2B16-E8A907102DC3}"/>
              </a:ext>
            </a:extLst>
          </p:cNvPr>
          <p:cNvPicPr>
            <a:picLocks noChangeAspect="1"/>
          </p:cNvPicPr>
          <p:nvPr/>
        </p:nvPicPr>
        <p:blipFill>
          <a:blip r:embed="rId2"/>
          <a:stretch>
            <a:fillRect/>
          </a:stretch>
        </p:blipFill>
        <p:spPr>
          <a:xfrm>
            <a:off x="1892709" y="2177314"/>
            <a:ext cx="8406581" cy="4315561"/>
          </a:xfrm>
          <a:prstGeom prst="rect">
            <a:avLst/>
          </a:prstGeom>
        </p:spPr>
      </p:pic>
    </p:spTree>
    <p:extLst>
      <p:ext uri="{BB962C8B-B14F-4D97-AF65-F5344CB8AC3E}">
        <p14:creationId xmlns:p14="http://schemas.microsoft.com/office/powerpoint/2010/main" val="309180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B93E6-C0B7-461F-0167-277EBF6E8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759A7-0136-64D7-154C-FA6D38E15102}"/>
              </a:ext>
            </a:extLst>
          </p:cNvPr>
          <p:cNvSpPr>
            <a:spLocks noGrp="1"/>
          </p:cNvSpPr>
          <p:nvPr>
            <p:ph type="title"/>
          </p:nvPr>
        </p:nvSpPr>
        <p:spPr/>
        <p:txBody>
          <a:bodyPr/>
          <a:lstStyle/>
          <a:p>
            <a:r>
              <a:rPr lang="en-IN" dirty="0">
                <a:latin typeface="Tisa Offc Serif Pro" panose="02010504030101020102" pitchFamily="2" charset="0"/>
              </a:rPr>
              <a:t>Result Inference</a:t>
            </a:r>
          </a:p>
        </p:txBody>
      </p:sp>
      <p:sp>
        <p:nvSpPr>
          <p:cNvPr id="3" name="Content Placeholder 2">
            <a:extLst>
              <a:ext uri="{FF2B5EF4-FFF2-40B4-BE49-F238E27FC236}">
                <a16:creationId xmlns:a16="http://schemas.microsoft.com/office/drawing/2014/main" id="{2619A164-123E-BC2B-53C5-06F20A8A5413}"/>
              </a:ext>
            </a:extLst>
          </p:cNvPr>
          <p:cNvSpPr>
            <a:spLocks noGrp="1"/>
          </p:cNvSpPr>
          <p:nvPr>
            <p:ph idx="1"/>
          </p:nvPr>
        </p:nvSpPr>
        <p:spPr/>
        <p:txBody>
          <a:bodyPr>
            <a:normAutofit/>
          </a:bodyPr>
          <a:lstStyle/>
          <a:p>
            <a:pPr marL="0" indent="0">
              <a:buNone/>
            </a:pPr>
            <a:r>
              <a:rPr lang="en-IN" sz="2000" dirty="0">
                <a:latin typeface="Times New Roman" panose="02020603050405020304" pitchFamily="18" charset="0"/>
                <a:cs typeface="Times New Roman" panose="02020603050405020304" pitchFamily="18" charset="0"/>
              </a:rPr>
              <a:t>Comparison of our baseline model with DenseNet-121</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pic>
        <p:nvPicPr>
          <p:cNvPr id="9" name="Picture 8" descr="A collage of cells with text overlay&#10;&#10;AI-generated content may be incorrect.">
            <a:extLst>
              <a:ext uri="{FF2B5EF4-FFF2-40B4-BE49-F238E27FC236}">
                <a16:creationId xmlns:a16="http://schemas.microsoft.com/office/drawing/2014/main" id="{F1CFF531-97C6-4AD9-BA2A-D2D175B8ED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2565" y="2141186"/>
            <a:ext cx="8114949" cy="4716814"/>
          </a:xfrm>
          <a:prstGeom prst="rect">
            <a:avLst/>
          </a:prstGeom>
        </p:spPr>
      </p:pic>
    </p:spTree>
    <p:extLst>
      <p:ext uri="{BB962C8B-B14F-4D97-AF65-F5344CB8AC3E}">
        <p14:creationId xmlns:p14="http://schemas.microsoft.com/office/powerpoint/2010/main" val="1228787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95DA9-4872-DE10-BD43-374F7C23E581}"/>
              </a:ext>
            </a:extLst>
          </p:cNvPr>
          <p:cNvSpPr>
            <a:spLocks noGrp="1"/>
          </p:cNvSpPr>
          <p:nvPr>
            <p:ph type="title"/>
          </p:nvPr>
        </p:nvSpPr>
        <p:spPr/>
        <p:txBody>
          <a:bodyPr/>
          <a:lstStyle/>
          <a:p>
            <a:r>
              <a:rPr lang="en-IN" dirty="0">
                <a:latin typeface="Tisa Offc Serif Pro" panose="02010504030101020102" pitchFamily="2" charset="0"/>
              </a:rPr>
              <a:t>Conclusion</a:t>
            </a:r>
          </a:p>
        </p:txBody>
      </p:sp>
      <p:sp>
        <p:nvSpPr>
          <p:cNvPr id="4" name="Rectangle 2">
            <a:extLst>
              <a:ext uri="{FF2B5EF4-FFF2-40B4-BE49-F238E27FC236}">
                <a16:creationId xmlns:a16="http://schemas.microsoft.com/office/drawing/2014/main" id="{7E8D8248-3D01-897F-5B9E-A89039F34B84}"/>
              </a:ext>
            </a:extLst>
          </p:cNvPr>
          <p:cNvSpPr>
            <a:spLocks noGrp="1" noChangeArrowheads="1"/>
          </p:cNvSpPr>
          <p:nvPr>
            <p:ph idx="1"/>
          </p:nvPr>
        </p:nvSpPr>
        <p:spPr bwMode="auto">
          <a:xfrm>
            <a:off x="838200" y="1779094"/>
            <a:ext cx="1069164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final model achieved strong overall performance with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92.3% test accuracy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demonstrating reliable atypical–typical mitosis classification.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precision (0.91)</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recall (0.89)</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indicate consistent detection with minimal false positives and false negatives.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F1-score of 0.90</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AUC of 0.95</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reflect excellent discriminative capability, even with challenging atypical morphologies.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model remains computationally efficient, using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7.9M parameters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running at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45 FPS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supporting practical deployment.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results show that the system is both accurate and efficient, making it suitable for real-world pathology assistance and improving consistency in mitotic figure assessment.</a:t>
            </a:r>
          </a:p>
        </p:txBody>
      </p:sp>
    </p:spTree>
    <p:extLst>
      <p:ext uri="{BB962C8B-B14F-4D97-AF65-F5344CB8AC3E}">
        <p14:creationId xmlns:p14="http://schemas.microsoft.com/office/powerpoint/2010/main" val="34617709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808</TotalTime>
  <Words>828</Words>
  <Application>Microsoft Office PowerPoint</Application>
  <PresentationFormat>Widescreen</PresentationFormat>
  <Paragraphs>64</Paragraphs>
  <Slides>19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Aptos Display</vt:lpstr>
      <vt:lpstr>Arial</vt:lpstr>
      <vt:lpstr>Calibri</vt:lpstr>
      <vt:lpstr>Times New Roman</vt:lpstr>
      <vt:lpstr>Tisa Offc Serif Pro</vt:lpstr>
      <vt:lpstr>Office Theme</vt:lpstr>
      <vt:lpstr>Atypical Mitosis Classification in Histopathology Using Deep Learning </vt:lpstr>
      <vt:lpstr>Problem Statement</vt:lpstr>
      <vt:lpstr>Dataset</vt:lpstr>
      <vt:lpstr>Motivation</vt:lpstr>
      <vt:lpstr>Literature Survey</vt:lpstr>
      <vt:lpstr>Flowchart</vt:lpstr>
      <vt:lpstr>Model Architecture</vt:lpstr>
      <vt:lpstr>Model Architecture</vt:lpstr>
      <vt:lpstr>Model Architecture </vt:lpstr>
      <vt:lpstr>Baseline Model Results</vt:lpstr>
      <vt:lpstr>Convolutional Attention</vt:lpstr>
      <vt:lpstr>Best Position for Attention</vt:lpstr>
      <vt:lpstr>Model Hyperparameters and Training Configurations</vt:lpstr>
      <vt:lpstr>Results</vt:lpstr>
      <vt:lpstr>Results</vt:lpstr>
      <vt:lpstr>Results</vt:lpstr>
      <vt:lpstr>Results</vt:lpstr>
      <vt:lpstr>Result Inference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Raksha Venkatesha</dc:creator>
  <cp:lastModifiedBy>lishanthan Sri ayyanar</cp:lastModifiedBy>
  <cp:revision>3</cp:revision>
  <dcterms:created xsi:type="dcterms:W3CDTF">2025-11-18T16:06:51Z</dcterms:created>
  <dcterms:modified xsi:type="dcterms:W3CDTF">2026-03-31T18:05:11Z</dcterms:modified>
</cp:coreProperties>
</file>